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7"/>
  </p:notesMasterIdLst>
  <p:sldIdLst>
    <p:sldId id="256" r:id="rId2"/>
    <p:sldId id="257" r:id="rId3"/>
    <p:sldId id="274" r:id="rId4"/>
    <p:sldId id="258" r:id="rId5"/>
    <p:sldId id="259" r:id="rId6"/>
    <p:sldId id="260" r:id="rId7"/>
    <p:sldId id="261" r:id="rId8"/>
    <p:sldId id="271" r:id="rId9"/>
    <p:sldId id="272" r:id="rId10"/>
    <p:sldId id="263" r:id="rId11"/>
    <p:sldId id="264" r:id="rId12"/>
    <p:sldId id="265" r:id="rId13"/>
    <p:sldId id="267" r:id="rId14"/>
    <p:sldId id="268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52DE5E-F4A4-4BAB-A2B4-A3B1B8A7B30D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BDF73C-50F7-4404-89FE-F95FA697B35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629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53367A-D85B-6A26-4679-EFE41ADC8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7E6DF7-5010-8D5E-ECB0-17FF9C65F5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8EA7F25-FCB8-7763-C552-2BB1BC61F9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102F0-9122-F056-0E4B-113F2CC177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DF73C-50F7-4404-89FE-F95FA697B35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953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DF73C-50F7-4404-89FE-F95FA697B35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9349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DF73C-50F7-4404-89FE-F95FA697B35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98734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DF73C-50F7-4404-89FE-F95FA697B35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8232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DF73C-50F7-4404-89FE-F95FA697B352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750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56461-AF56-FDD2-E2BB-11C8F087E6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BD00E3-1FB6-CB3C-E3B2-F4494F74CB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ED35EC-5A04-C8A5-8BEB-DA344F334A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A36FF6-967A-C197-DFD0-B907697DD6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DF73C-50F7-4404-89FE-F95FA697B35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8321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BDF73C-50F7-4404-89FE-F95FA697B352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7597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029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87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6384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562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61068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1186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386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2529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3554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63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3407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195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5725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692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748178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532941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1866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4911015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3261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644082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80654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94731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3664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149123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84965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86848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2591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2109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  <p:sldLayoutId id="2147483690" r:id="rId18"/>
    <p:sldLayoutId id="2147483691" r:id="rId19"/>
    <p:sldLayoutId id="2147483692" r:id="rId20"/>
    <p:sldLayoutId id="2147483693" r:id="rId21"/>
    <p:sldLayoutId id="2147483694" r:id="rId22"/>
    <p:sldLayoutId id="2147483695" r:id="rId23"/>
    <p:sldLayoutId id="2147483696" r:id="rId24"/>
    <p:sldLayoutId id="2147483697" r:id="rId25"/>
    <p:sldLayoutId id="2147483698" r:id="rId26"/>
    <p:sldLayoutId id="2147483699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microsoft.com/office/2007/relationships/hdphoto" Target="../media/hdphoto1.wdp"/><Relationship Id="rId7" Type="http://schemas.openxmlformats.org/officeDocument/2006/relationships/image" Target="../media/image1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27.png"/><Relationship Id="rId4" Type="http://schemas.openxmlformats.org/officeDocument/2006/relationships/image" Target="../media/image3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7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5.jpeg"/><Relationship Id="rId5" Type="http://schemas.openxmlformats.org/officeDocument/2006/relationships/image" Target="../media/image27.png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jpeg"/><Relationship Id="rId3" Type="http://schemas.openxmlformats.org/officeDocument/2006/relationships/image" Target="../media/image1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37.png"/><Relationship Id="rId5" Type="http://schemas.openxmlformats.org/officeDocument/2006/relationships/image" Target="../media/image22.png"/><Relationship Id="rId4" Type="http://schemas.openxmlformats.org/officeDocument/2006/relationships/image" Target="../media/image3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jpeg"/><Relationship Id="rId3" Type="http://schemas.openxmlformats.org/officeDocument/2006/relationships/image" Target="../media/image15.png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2.png"/><Relationship Id="rId5" Type="http://schemas.openxmlformats.org/officeDocument/2006/relationships/image" Target="../media/image41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7" Type="http://schemas.openxmlformats.org/officeDocument/2006/relationships/image" Target="../media/image44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27.png"/><Relationship Id="rId5" Type="http://schemas.openxmlformats.org/officeDocument/2006/relationships/image" Target="../media/image22.png"/><Relationship Id="rId4" Type="http://schemas.openxmlformats.org/officeDocument/2006/relationships/image" Target="../media/image4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5.png"/><Relationship Id="rId7" Type="http://schemas.openxmlformats.org/officeDocument/2006/relationships/image" Target="../media/image49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48.png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211731" y="1385097"/>
            <a:ext cx="9601200" cy="71788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7000" b="1" i="0" u="none" dirty="0" err="1">
                <a:solidFill>
                  <a:srgbClr val="0F172A"/>
                </a:solidFill>
                <a:latin typeface="Plus Jakarta Sans ExtraBold"/>
              </a:rPr>
              <a:t>BiblioTrack</a:t>
            </a:r>
            <a:endParaRPr sz="7000" b="1" i="0" u="none" dirty="0">
              <a:solidFill>
                <a:srgbClr val="0F172A"/>
              </a:solidFill>
              <a:latin typeface="Plus Jakarta Sans Extra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40331" y="2140426"/>
            <a:ext cx="914400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600" b="0" i="0" u="none" dirty="0">
                <a:solidFill>
                  <a:srgbClr val="2563EB"/>
                </a:solidFill>
                <a:latin typeface="Plus Jakarta Sans SemiBold"/>
              </a:rPr>
              <a:t>Smart Library Management System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A430277-C37C-CC37-9F83-1B2A49CAA4A2}"/>
              </a:ext>
            </a:extLst>
          </p:cNvPr>
          <p:cNvGrpSpPr/>
          <p:nvPr/>
        </p:nvGrpSpPr>
        <p:grpSpPr>
          <a:xfrm>
            <a:off x="470187" y="4121454"/>
            <a:ext cx="5480242" cy="1714961"/>
            <a:chOff x="501459" y="3565304"/>
            <a:chExt cx="5480242" cy="1714961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1459" y="3565304"/>
              <a:ext cx="5480242" cy="1714961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793937" y="3759497"/>
              <a:ext cx="398145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1" i="0" u="none" dirty="0">
                  <a:solidFill>
                    <a:srgbClr val="64748B"/>
                  </a:solidFill>
                  <a:latin typeface="JetBrains Mono"/>
                </a:rPr>
                <a:t>PROJECT TEAM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793937" y="4208627"/>
              <a:ext cx="3981450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600" b="1" i="0" u="none" dirty="0">
                  <a:solidFill>
                    <a:srgbClr val="0F172A"/>
                  </a:solidFill>
                  <a:latin typeface="Plus Jakarta Sans"/>
                </a:rPr>
                <a:t>Syeda Dilawaiz (92-B)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793937" y="4635201"/>
              <a:ext cx="3981450" cy="246221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1600" b="1" i="0" u="none" dirty="0">
                  <a:solidFill>
                    <a:srgbClr val="0F172A"/>
                  </a:solidFill>
                  <a:latin typeface="Plus Jakarta Sans"/>
                </a:rPr>
                <a:t>Haneef Ur Rahman (189-D)</a:t>
              </a:r>
            </a:p>
          </p:txBody>
        </p:sp>
        <p:pic>
          <p:nvPicPr>
            <p:cNvPr id="14" name="Picture 13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884800" y="4108210"/>
              <a:ext cx="1136466" cy="346638"/>
            </a:xfrm>
            <a:prstGeom prst="rect">
              <a:avLst/>
            </a:prstGeom>
          </p:spPr>
        </p:pic>
        <p:pic>
          <p:nvPicPr>
            <p:cNvPr id="15" name="Picture 14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884799" y="4570640"/>
              <a:ext cx="1157522" cy="346638"/>
            </a:xfrm>
            <a:prstGeom prst="rect">
              <a:avLst/>
            </a:prstGeom>
          </p:spPr>
        </p:pic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7DDC5D1-C075-2012-3D31-3FCCFA2D35D1}"/>
              </a:ext>
            </a:extLst>
          </p:cNvPr>
          <p:cNvGrpSpPr/>
          <p:nvPr/>
        </p:nvGrpSpPr>
        <p:grpSpPr>
          <a:xfrm>
            <a:off x="6233335" y="4118352"/>
            <a:ext cx="5559625" cy="1742943"/>
            <a:chOff x="6042958" y="3565304"/>
            <a:chExt cx="5804856" cy="1742943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042958" y="3565304"/>
              <a:ext cx="5804856" cy="1742943"/>
            </a:xfrm>
            <a:prstGeom prst="rect">
              <a:avLst/>
            </a:prstGeom>
          </p:spPr>
        </p:pic>
        <p:sp>
          <p:nvSpPr>
            <p:cNvPr id="8" name="TextBox 7"/>
            <p:cNvSpPr txBox="1"/>
            <p:nvPr/>
          </p:nvSpPr>
          <p:spPr>
            <a:xfrm>
              <a:off x="6448425" y="3720451"/>
              <a:ext cx="3981450" cy="276999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b="1" i="0" u="none" dirty="0">
                  <a:solidFill>
                    <a:srgbClr val="64748B"/>
                  </a:solidFill>
                  <a:latin typeface="JetBrains Mono"/>
                </a:rPr>
                <a:t>SUPERVISION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48425" y="4035992"/>
              <a:ext cx="4180522" cy="24622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600" b="1" i="0" u="none" dirty="0">
                  <a:solidFill>
                    <a:srgbClr val="0F172A"/>
                  </a:solidFill>
                  <a:latin typeface="Plus Jakarta Sans"/>
                </a:rPr>
                <a:t>Sir Javed Iqbal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581775" y="4339009"/>
              <a:ext cx="3848099" cy="246221"/>
            </a:xfrm>
            <a:prstGeom prst="rect">
              <a:avLst/>
            </a:prstGeom>
            <a:noFill/>
          </p:spPr>
          <p:txBody>
            <a:bodyPr wrap="square" lIns="133350" tIns="0" rIns="0" bIns="0" anchor="t">
              <a:spAutoFit/>
            </a:bodyPr>
            <a:lstStyle/>
            <a:p>
              <a:pPr algn="l"/>
              <a:r>
                <a:rPr sz="1600" b="0" i="0" u="none" dirty="0">
                  <a:solidFill>
                    <a:srgbClr val="475569"/>
                  </a:solidFill>
                  <a:latin typeface="Plus Jakarta Sans"/>
                </a:rPr>
                <a:t>Javaidiq@uop.edu.pk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48424" y="4648039"/>
              <a:ext cx="3848099" cy="43088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1400" b="0" i="0" u="none" dirty="0">
                  <a:solidFill>
                    <a:srgbClr val="64748B"/>
                  </a:solidFill>
                  <a:latin typeface="Plus Jakarta Sans"/>
                </a:rPr>
                <a:t>Department of Computer Science, University of Peshawar</a:t>
              </a:r>
            </a:p>
          </p:txBody>
        </p:sp>
        <p:pic>
          <p:nvPicPr>
            <p:cNvPr id="16" name="Picture 15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48424" y="4367583"/>
              <a:ext cx="200025" cy="200025"/>
            </a:xfrm>
            <a:prstGeom prst="rect">
              <a:avLst/>
            </a:prstGeom>
          </p:spPr>
        </p:pic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13BB9D3-EEA5-D125-B3ED-8D7A92D62B75}"/>
              </a:ext>
            </a:extLst>
          </p:cNvPr>
          <p:cNvSpPr txBox="1"/>
          <p:nvPr/>
        </p:nvSpPr>
        <p:spPr>
          <a:xfrm>
            <a:off x="2745068" y="2776180"/>
            <a:ext cx="6591766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500" dirty="0">
                <a:solidFill>
                  <a:srgbClr val="64748B"/>
                </a:solidFill>
                <a:latin typeface="Plus Jakarta Sans"/>
              </a:rPr>
              <a:t>A web-based library system for managing books, digital resources, students and library services.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976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9889" y="1419198"/>
            <a:ext cx="3619500" cy="120580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228982" y="1768911"/>
            <a:ext cx="326040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1. </a:t>
            </a:r>
            <a:r>
              <a:rPr lang="en-US" sz="1600" b="1" i="0" u="none" dirty="0">
                <a:solidFill>
                  <a:srgbClr val="0F172A"/>
                </a:solidFill>
                <a:latin typeface="Plus Jakarta Sans"/>
              </a:rPr>
              <a:t>Introduction &amp; Problem Solution</a:t>
            </a:r>
            <a:endParaRPr sz="16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217030" y="2274752"/>
            <a:ext cx="3105150" cy="1983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CS department issues &amp; solution.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0454" y="1419198"/>
            <a:ext cx="3619500" cy="120580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149547" y="1768911"/>
            <a:ext cx="326040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2. Requirements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37595" y="2115728"/>
            <a:ext cx="3105150" cy="19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Functional needs &amp; Use Case flow.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69889" y="2925936"/>
            <a:ext cx="3619500" cy="12058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2228982" y="3275649"/>
            <a:ext cx="326040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3. </a:t>
            </a:r>
            <a:r>
              <a:rPr lang="en-US" sz="1600" b="1" dirty="0">
                <a:solidFill>
                  <a:srgbClr val="0F172A"/>
                </a:solidFill>
                <a:latin typeface="Plus Jakarta Sans"/>
              </a:rPr>
              <a:t>Main 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Features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17030" y="3622466"/>
            <a:ext cx="3105150" cy="19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500" b="0" i="0" u="none">
                <a:solidFill>
                  <a:srgbClr val="475569"/>
                </a:solidFill>
                <a:latin typeface="Plus Jakarta Sans"/>
              </a:rPr>
              <a:t>Admin, Student &amp; Digital Library.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0454" y="2925935"/>
            <a:ext cx="3619500" cy="120580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49547" y="3275648"/>
            <a:ext cx="326040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4. </a:t>
            </a:r>
            <a:r>
              <a:rPr lang="en-US" sz="1600" b="1" i="0" u="none" dirty="0">
                <a:solidFill>
                  <a:srgbClr val="0F172A"/>
                </a:solidFill>
                <a:latin typeface="Plus Jakarta Sans"/>
              </a:rPr>
              <a:t>System </a:t>
            </a:r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37595" y="3622465"/>
            <a:ext cx="3105150" cy="19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ERD schema, 3-tier design &amp; AI.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69889" y="4475721"/>
            <a:ext cx="3619500" cy="120580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2228982" y="4825434"/>
            <a:ext cx="326040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5. Tech</a:t>
            </a:r>
            <a:r>
              <a:rPr lang="en-US" sz="1600" b="1" i="0" u="none" dirty="0">
                <a:solidFill>
                  <a:srgbClr val="0F172A"/>
                </a:solidFill>
                <a:latin typeface="Plus Jakarta Sans"/>
              </a:rPr>
              <a:t>nology &amp; Testing</a:t>
            </a:r>
            <a:endParaRPr sz="16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217030" y="5172251"/>
            <a:ext cx="3105150" cy="19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MERN stack, testing &amp; server setup.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90454" y="4475721"/>
            <a:ext cx="3619500" cy="120580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149547" y="4825434"/>
            <a:ext cx="326040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 u="none" dirty="0">
                <a:solidFill>
                  <a:srgbClr val="0F172A"/>
                </a:solidFill>
                <a:latin typeface="Plus Jakarta Sans"/>
              </a:rPr>
              <a:t>6. Live Demo &amp; Q&amp;A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37595" y="5172251"/>
            <a:ext cx="3105150" cy="1950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70"/>
              </a:lnSpc>
            </a:pPr>
            <a:r>
              <a:rPr sz="1500" b="0" i="0" u="none" dirty="0">
                <a:solidFill>
                  <a:srgbClr val="475569"/>
                </a:solidFill>
                <a:latin typeface="Plus Jakarta Sans"/>
              </a:rPr>
              <a:t>Live walkthrough and discussion.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1699" y="259284"/>
            <a:ext cx="853684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Presentation Outline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4B1E9-4ED1-B01E-BA86-FD5F796E0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97FC9737-28C8-3DF3-5E01-DA61D3FB93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86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49F6358-26CA-3B01-F7DB-671E3CBBED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6212" y="3667125"/>
            <a:ext cx="2314575" cy="20002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9282CBF-88D0-8837-EEFD-961C6D751809}"/>
              </a:ext>
            </a:extLst>
          </p:cNvPr>
          <p:cNvSpPr txBox="1"/>
          <p:nvPr/>
        </p:nvSpPr>
        <p:spPr>
          <a:xfrm>
            <a:off x="504850" y="307540"/>
            <a:ext cx="771157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200" b="1" i="0" u="none" dirty="0">
                <a:solidFill>
                  <a:srgbClr val="0F172A"/>
                </a:solidFill>
                <a:latin typeface="Plus Jakarta Sans"/>
              </a:rPr>
              <a:t>Introduction</a:t>
            </a:r>
            <a:endParaRPr sz="32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6D67241-AD08-7606-D555-79DC2D71ABF8}"/>
              </a:ext>
            </a:extLst>
          </p:cNvPr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1EAEA022-AE36-A4BE-65DB-4DA23149E34F}"/>
              </a:ext>
            </a:extLst>
          </p:cNvPr>
          <p:cNvGrpSpPr/>
          <p:nvPr/>
        </p:nvGrpSpPr>
        <p:grpSpPr>
          <a:xfrm>
            <a:off x="581630" y="1079333"/>
            <a:ext cx="6473262" cy="5543682"/>
            <a:chOff x="45666" y="1675039"/>
            <a:chExt cx="6473262" cy="4797896"/>
          </a:xfrm>
        </p:grpSpPr>
        <p:pic>
          <p:nvPicPr>
            <p:cNvPr id="3" name="Picture 2" descr="image.png">
              <a:extLst>
                <a:ext uri="{FF2B5EF4-FFF2-40B4-BE49-F238E27FC236}">
                  <a16:creationId xmlns:a16="http://schemas.microsoft.com/office/drawing/2014/main" id="{8CFF1B33-BCB9-48B0-CD46-FB9229D981F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5666" y="1675039"/>
              <a:ext cx="6473262" cy="4797896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CA30AE55-48E5-1AC7-B609-578A01B8AD28}"/>
                </a:ext>
              </a:extLst>
            </p:cNvPr>
            <p:cNvSpPr txBox="1"/>
            <p:nvPr/>
          </p:nvSpPr>
          <p:spPr>
            <a:xfrm>
              <a:off x="157304" y="2240931"/>
              <a:ext cx="6249986" cy="39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b="1" dirty="0" err="1">
                  <a:latin typeface="Plus Jakarta Sans"/>
                </a:rPr>
                <a:t>BiblioTrack</a:t>
              </a:r>
              <a:r>
                <a:rPr lang="en-US" sz="2400" dirty="0">
                  <a:latin typeface="Plus Jakarta Sans"/>
                </a:rPr>
                <a:t> – web-based Library Management System for CS Dept, University of Peshawar.</a:t>
              </a:r>
            </a:p>
            <a:p>
              <a:endParaRPr lang="en-US" sz="2400" dirty="0">
                <a:latin typeface="Plus Jakarta Sans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dirty="0">
                  <a:latin typeface="Plus Jakarta Sans"/>
                </a:rPr>
                <a:t>Modernizes the traditional library via a unified digital platform for students and admins.</a:t>
              </a:r>
            </a:p>
            <a:p>
              <a:endParaRPr lang="en-US" sz="2400" dirty="0">
                <a:latin typeface="Plus Jakarta Sans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dirty="0">
                  <a:latin typeface="Plus Jakarta Sans"/>
                </a:rPr>
                <a:t>Provides role-based portals to improve accessibility, automation, and efficiency.</a:t>
              </a:r>
            </a:p>
            <a:p>
              <a:endParaRPr lang="en-US" sz="2400" dirty="0">
                <a:latin typeface="Plus Jakarta Sans"/>
              </a:endParaRPr>
            </a:p>
            <a:p>
              <a:pPr marL="342900" indent="-342900">
                <a:buFont typeface="Wingdings" panose="05000000000000000000" pitchFamily="2" charset="2"/>
                <a:buChar char="ü"/>
              </a:pPr>
              <a:r>
                <a:rPr lang="en-US" sz="2400" dirty="0">
                  <a:latin typeface="Plus Jakarta Sans"/>
                </a:rPr>
                <a:t>Built as a scalable web application for current and future needs.</a:t>
              </a:r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FA48DBCD-C7A3-3DF0-3F36-8811B13D4F80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186"/>
          <a:stretch>
            <a:fillRect/>
          </a:stretch>
        </p:blipFill>
        <p:spPr>
          <a:xfrm>
            <a:off x="7368985" y="998343"/>
            <a:ext cx="3926543" cy="5624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0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3092" y="270509"/>
            <a:ext cx="6598637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Problem </a:t>
            </a:r>
            <a:r>
              <a:rPr lang="en-US" sz="3200" b="1" i="0" u="none" dirty="0">
                <a:solidFill>
                  <a:srgbClr val="0F172A"/>
                </a:solidFill>
                <a:latin typeface="Plus Jakarta Sans"/>
              </a:rPr>
              <a:t>&amp; Proposed Solution</a:t>
            </a:r>
            <a:endParaRPr sz="3200" b="1" i="0" u="none" dirty="0">
              <a:solidFill>
                <a:srgbClr val="0F172A"/>
              </a:solidFill>
              <a:latin typeface="Plus Jakarta Sans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52A6996-0521-3EEA-769A-16949DFBECD3}"/>
              </a:ext>
            </a:extLst>
          </p:cNvPr>
          <p:cNvGrpSpPr/>
          <p:nvPr/>
        </p:nvGrpSpPr>
        <p:grpSpPr>
          <a:xfrm>
            <a:off x="495300" y="1231152"/>
            <a:ext cx="5486400" cy="4876793"/>
            <a:chOff x="495300" y="1231152"/>
            <a:chExt cx="5486400" cy="4876793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1231152"/>
              <a:ext cx="5486400" cy="4876793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27457" y="1675444"/>
              <a:ext cx="4686300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1" i="0" u="none" dirty="0">
                  <a:solidFill>
                    <a:srgbClr val="991B1B"/>
                  </a:solidFill>
                  <a:latin typeface="Plus Jakarta Sans"/>
                </a:rPr>
                <a:t>CS Department Library Lacks:</a:t>
              </a:r>
            </a:p>
          </p:txBody>
        </p: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E33EAC4-F8CF-33AB-4D78-5291B1834F4C}"/>
                </a:ext>
              </a:extLst>
            </p:cNvPr>
            <p:cNvGrpSpPr/>
            <p:nvPr/>
          </p:nvGrpSpPr>
          <p:grpSpPr>
            <a:xfrm>
              <a:off x="766763" y="2255063"/>
              <a:ext cx="4957762" cy="553998"/>
              <a:chOff x="766763" y="2553890"/>
              <a:chExt cx="4957762" cy="553998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1000125" y="2553890"/>
                <a:ext cx="472440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ct val="100000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No Digital Resource Management: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N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o single online place for notes &amp; books.</a:t>
                </a:r>
                <a:endParaRPr b="0" i="0" u="none" dirty="0">
                  <a:solidFill>
                    <a:srgbClr val="334155"/>
                  </a:solidFill>
                  <a:latin typeface="Plus Jakarta Sans"/>
                </a:endParaRPr>
              </a:p>
            </p:txBody>
          </p:sp>
          <p:pic>
            <p:nvPicPr>
              <p:cNvPr id="22" name="Picture 21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6763" y="2597268"/>
                <a:ext cx="104775" cy="146685"/>
              </a:xfrm>
              <a:prstGeom prst="rect">
                <a:avLst/>
              </a:prstGeom>
            </p:spPr>
          </p:pic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54F0953-8A09-8483-8889-9919C520C7FE}"/>
                </a:ext>
              </a:extLst>
            </p:cNvPr>
            <p:cNvGrpSpPr/>
            <p:nvPr/>
          </p:nvGrpSpPr>
          <p:grpSpPr>
            <a:xfrm>
              <a:off x="766763" y="2995069"/>
              <a:ext cx="4957762" cy="487313"/>
              <a:chOff x="766763" y="3132534"/>
              <a:chExt cx="4957762" cy="487313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000125" y="3132534"/>
                <a:ext cx="4724400" cy="48731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No Smart Search: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Manual book search causes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too much time.</a:t>
                </a:r>
                <a:endParaRPr b="0" i="0" u="none" dirty="0">
                  <a:solidFill>
                    <a:srgbClr val="334155"/>
                  </a:solidFill>
                  <a:latin typeface="Plus Jakarta Sans"/>
                </a:endParaRPr>
              </a:p>
            </p:txBody>
          </p:sp>
          <p:pic>
            <p:nvPicPr>
              <p:cNvPr id="23" name="Picture 22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6763" y="3175912"/>
                <a:ext cx="104775" cy="146685"/>
              </a:xfrm>
              <a:prstGeom prst="rect">
                <a:avLst/>
              </a:prstGeom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22F1305C-DB9A-CF74-AB85-766AA16003E5}"/>
                </a:ext>
              </a:extLst>
            </p:cNvPr>
            <p:cNvGrpSpPr/>
            <p:nvPr/>
          </p:nvGrpSpPr>
          <p:grpSpPr>
            <a:xfrm>
              <a:off x="771525" y="3744380"/>
              <a:ext cx="4953000" cy="483393"/>
              <a:chOff x="771525" y="3696585"/>
              <a:chExt cx="4953000" cy="483393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1000125" y="3696585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No Instant Assistance: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Students have no support outside office hours.</a:t>
                </a:r>
              </a:p>
            </p:txBody>
          </p:sp>
          <p:pic>
            <p:nvPicPr>
              <p:cNvPr id="24" name="Picture 23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1525" y="3764566"/>
                <a:ext cx="95250" cy="133350"/>
              </a:xfrm>
              <a:prstGeom prst="rect">
                <a:avLst/>
              </a:prstGeom>
            </p:spPr>
          </p:pic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D813D95-B890-2B44-257A-21C8CA36CF7D}"/>
                </a:ext>
              </a:extLst>
            </p:cNvPr>
            <p:cNvGrpSpPr/>
            <p:nvPr/>
          </p:nvGrpSpPr>
          <p:grpSpPr>
            <a:xfrm>
              <a:off x="771525" y="4478421"/>
              <a:ext cx="4953000" cy="483393"/>
              <a:chOff x="771525" y="4275229"/>
              <a:chExt cx="4953000" cy="483393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1000125" y="4275229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Manual Fine &amp; Issue Tracking: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Paper registers cause human record errors.</a:t>
                </a:r>
              </a:p>
            </p:txBody>
          </p:sp>
          <p:pic>
            <p:nvPicPr>
              <p:cNvPr id="25" name="Picture 24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1525" y="4325282"/>
                <a:ext cx="95250" cy="133350"/>
              </a:xfrm>
              <a:prstGeom prst="rect">
                <a:avLst/>
              </a:prstGeom>
            </p:spPr>
          </p:pic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E2965447-12BB-44D2-8101-D9DCDEC16A03}"/>
                </a:ext>
              </a:extLst>
            </p:cNvPr>
            <p:cNvGrpSpPr/>
            <p:nvPr/>
          </p:nvGrpSpPr>
          <p:grpSpPr>
            <a:xfrm>
              <a:off x="771525" y="5212450"/>
              <a:ext cx="4953000" cy="487313"/>
              <a:chOff x="771525" y="4889728"/>
              <a:chExt cx="4953000" cy="487313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1000125" y="4889728"/>
                <a:ext cx="4724400" cy="48731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Impact: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Library work becomes inefficient in the era of modern technology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26" name="Picture 25" descr="image.png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1525" y="4957709"/>
                <a:ext cx="95250" cy="133350"/>
              </a:xfrm>
              <a:prstGeom prst="rect">
                <a:avLst/>
              </a:prstGeom>
            </p:spPr>
          </p:pic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F0ECFEAE-1E36-6090-7ADE-038782944D72}"/>
              </a:ext>
            </a:extLst>
          </p:cNvPr>
          <p:cNvGrpSpPr/>
          <p:nvPr/>
        </p:nvGrpSpPr>
        <p:grpSpPr>
          <a:xfrm>
            <a:off x="6210300" y="1244228"/>
            <a:ext cx="5486400" cy="4876793"/>
            <a:chOff x="6210300" y="1244228"/>
            <a:chExt cx="5486400" cy="4876793"/>
          </a:xfrm>
        </p:grpSpPr>
        <p:pic>
          <p:nvPicPr>
            <p:cNvPr id="4" name="Picture 3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210300" y="1244228"/>
              <a:ext cx="5486400" cy="4876793"/>
            </a:xfrm>
            <a:prstGeom prst="rect">
              <a:avLst/>
            </a:prstGeom>
          </p:spPr>
        </p:pic>
        <p:sp>
          <p:nvSpPr>
            <p:cNvPr id="7" name="TextBox 6"/>
            <p:cNvSpPr txBox="1"/>
            <p:nvPr/>
          </p:nvSpPr>
          <p:spPr>
            <a:xfrm>
              <a:off x="6442448" y="1651538"/>
              <a:ext cx="4686300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en-US" sz="2000" b="1" i="0" u="none" dirty="0">
                  <a:solidFill>
                    <a:srgbClr val="166534"/>
                  </a:solidFill>
                  <a:latin typeface="Plus Jakarta Sans"/>
                </a:rPr>
                <a:t>What We Built (</a:t>
              </a:r>
              <a:r>
                <a:rPr lang="en-US" sz="2000" b="1" i="0" u="none" dirty="0" err="1">
                  <a:solidFill>
                    <a:srgbClr val="166534"/>
                  </a:solidFill>
                  <a:latin typeface="Plus Jakarta Sans"/>
                </a:rPr>
                <a:t>BiblioTrack</a:t>
              </a:r>
              <a:r>
                <a:rPr lang="en-US" sz="2000" b="1" i="0" u="none" dirty="0">
                  <a:solidFill>
                    <a:srgbClr val="166534"/>
                  </a:solidFill>
                  <a:latin typeface="Plus Jakarta Sans"/>
                </a:rPr>
                <a:t>):</a:t>
              </a:r>
              <a:endParaRPr sz="2000" b="1" i="0" u="none" dirty="0">
                <a:solidFill>
                  <a:srgbClr val="166534"/>
                </a:solidFill>
                <a:latin typeface="Plus Jakarta Sans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3470B3F8-CDB2-2ABF-6D34-B58937BB5718}"/>
                </a:ext>
              </a:extLst>
            </p:cNvPr>
            <p:cNvGrpSpPr/>
            <p:nvPr/>
          </p:nvGrpSpPr>
          <p:grpSpPr>
            <a:xfrm>
              <a:off x="6486525" y="2243111"/>
              <a:ext cx="4953000" cy="483393"/>
              <a:chOff x="6486525" y="2541938"/>
              <a:chExt cx="4953000" cy="483393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6715125" y="2541938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Web-Based Digital Library: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Centralized system for the CS department.</a:t>
                </a:r>
              </a:p>
            </p:txBody>
          </p:sp>
          <p:pic>
            <p:nvPicPr>
              <p:cNvPr id="27" name="Picture 26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6525" y="2591990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41" name="Group 40">
              <a:extLst>
                <a:ext uri="{FF2B5EF4-FFF2-40B4-BE49-F238E27FC236}">
                  <a16:creationId xmlns:a16="http://schemas.microsoft.com/office/drawing/2014/main" id="{2D325A4E-8CEF-6510-D040-77846F755C1A}"/>
                </a:ext>
              </a:extLst>
            </p:cNvPr>
            <p:cNvGrpSpPr/>
            <p:nvPr/>
          </p:nvGrpSpPr>
          <p:grpSpPr>
            <a:xfrm>
              <a:off x="6486525" y="2995071"/>
              <a:ext cx="4953000" cy="483393"/>
              <a:chOff x="6486525" y="3120582"/>
              <a:chExt cx="4953000" cy="483393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6715125" y="3120582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Physical Book Management: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T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rack 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a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ll books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, issue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s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, and return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s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28" name="Picture 27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6525" y="3170634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8B3D3566-080F-B99A-BB1A-32A36485CF28}"/>
                </a:ext>
              </a:extLst>
            </p:cNvPr>
            <p:cNvGrpSpPr/>
            <p:nvPr/>
          </p:nvGrpSpPr>
          <p:grpSpPr>
            <a:xfrm>
              <a:off x="6486525" y="3741047"/>
              <a:ext cx="4953000" cy="483393"/>
              <a:chOff x="6486525" y="3693250"/>
              <a:chExt cx="4953000" cy="483393"/>
            </a:xfrm>
          </p:grpSpPr>
          <p:sp>
            <p:nvSpPr>
              <p:cNvPr id="17" name="TextBox 16"/>
              <p:cNvSpPr txBox="1"/>
              <p:nvPr/>
            </p:nvSpPr>
            <p:spPr>
              <a:xfrm>
                <a:off x="6715125" y="3693250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Digital Resources (PDFs):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24/7 access to view and download study materials.</a:t>
                </a:r>
              </a:p>
            </p:txBody>
          </p:sp>
          <p:pic>
            <p:nvPicPr>
              <p:cNvPr id="29" name="Picture 28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6525" y="3749278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8473B44D-E379-1BD1-8750-E2C70A2443AC}"/>
                </a:ext>
              </a:extLst>
            </p:cNvPr>
            <p:cNvGrpSpPr/>
            <p:nvPr/>
          </p:nvGrpSpPr>
          <p:grpSpPr>
            <a:xfrm>
              <a:off x="6486525" y="4457158"/>
              <a:ext cx="4953000" cy="483393"/>
              <a:chOff x="6486525" y="4271893"/>
              <a:chExt cx="4953000" cy="483393"/>
            </a:xfrm>
          </p:grpSpPr>
          <p:sp>
            <p:nvSpPr>
              <p:cNvPr id="18" name="TextBox 17"/>
              <p:cNvSpPr txBox="1"/>
              <p:nvPr/>
            </p:nvSpPr>
            <p:spPr>
              <a:xfrm>
                <a:off x="6715125" y="4271893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Integrated AI Student Assistant: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Instant answers for all library queries.</a:t>
                </a:r>
              </a:p>
            </p:txBody>
          </p:sp>
          <p:pic>
            <p:nvPicPr>
              <p:cNvPr id="30" name="Picture 29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6525" y="4327921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E5EC21FE-F6C3-D6E1-A256-C64DF6F3DEBD}"/>
                </a:ext>
              </a:extLst>
            </p:cNvPr>
            <p:cNvGrpSpPr/>
            <p:nvPr/>
          </p:nvGrpSpPr>
          <p:grpSpPr>
            <a:xfrm>
              <a:off x="6486525" y="5191190"/>
              <a:ext cx="4953000" cy="483393"/>
              <a:chOff x="6486525" y="4838589"/>
              <a:chExt cx="4953000" cy="483393"/>
            </a:xfrm>
          </p:grpSpPr>
          <p:sp>
            <p:nvSpPr>
              <p:cNvPr id="19" name="TextBox 18"/>
              <p:cNvSpPr txBox="1"/>
              <p:nvPr/>
            </p:nvSpPr>
            <p:spPr>
              <a:xfrm>
                <a:off x="6715125" y="4838589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Project Novelty: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Combines physical, digital, and AI in a single platform.</a:t>
                </a:r>
              </a:p>
            </p:txBody>
          </p:sp>
          <p:pic>
            <p:nvPicPr>
              <p:cNvPr id="31" name="Picture 30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86525" y="4906565"/>
                <a:ext cx="104775" cy="133350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886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201271"/>
            <a:ext cx="5486400" cy="4851866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6212" y="3667125"/>
            <a:ext cx="23145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04850" y="307540"/>
            <a:ext cx="771157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3200" b="1" i="0" u="none" dirty="0">
                <a:solidFill>
                  <a:srgbClr val="0F172A"/>
                </a:solidFill>
                <a:latin typeface="Plus Jakarta Sans"/>
              </a:rPr>
              <a:t>System</a:t>
            </a:r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Requirements &amp; Use Case Overview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A735EAF-83DA-328E-9EB4-5175220967D8}"/>
              </a:ext>
            </a:extLst>
          </p:cNvPr>
          <p:cNvGrpSpPr/>
          <p:nvPr/>
        </p:nvGrpSpPr>
        <p:grpSpPr>
          <a:xfrm>
            <a:off x="441515" y="1308847"/>
            <a:ext cx="5486400" cy="4845890"/>
            <a:chOff x="495300" y="1201271"/>
            <a:chExt cx="5486400" cy="4845890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5300" y="1201271"/>
              <a:ext cx="5486400" cy="484589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51175" y="1503453"/>
              <a:ext cx="4638675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1" i="0" u="none" dirty="0">
                  <a:solidFill>
                    <a:srgbClr val="000000"/>
                  </a:solidFill>
                  <a:latin typeface="Plus Jakarta Sans"/>
                </a:rPr>
                <a:t>Requirements Analysis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E0CEA4F-4477-E00A-9805-C43F81EF30A9}"/>
                </a:ext>
              </a:extLst>
            </p:cNvPr>
            <p:cNvGrpSpPr/>
            <p:nvPr/>
          </p:nvGrpSpPr>
          <p:grpSpPr>
            <a:xfrm>
              <a:off x="771525" y="2196626"/>
              <a:ext cx="4953000" cy="483393"/>
              <a:chOff x="771525" y="2674739"/>
              <a:chExt cx="4953000" cy="483393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1000125" y="2674739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lang="en-US" b="1" i="0" u="none" dirty="0">
                    <a:solidFill>
                      <a:srgbClr val="0F172A"/>
                    </a:solidFill>
                    <a:latin typeface="Plus Jakarta Sans"/>
                  </a:rPr>
                  <a:t>User </a:t>
                </a: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Feedback: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Surveyed CS students and interviewed librarians.</a:t>
                </a:r>
              </a:p>
            </p:txBody>
          </p:sp>
          <p:pic>
            <p:nvPicPr>
              <p:cNvPr id="16" name="Picture 15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2748695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DC6ABDA5-9382-578E-CAA7-2CBA86073326}"/>
                </a:ext>
              </a:extLst>
            </p:cNvPr>
            <p:cNvGrpSpPr/>
            <p:nvPr/>
          </p:nvGrpSpPr>
          <p:grpSpPr>
            <a:xfrm>
              <a:off x="771525" y="2930657"/>
              <a:ext cx="4953000" cy="487313"/>
              <a:chOff x="771525" y="3253382"/>
              <a:chExt cx="4953000" cy="487313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000125" y="3253382"/>
                <a:ext cx="4724400" cy="48731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Two Distinct Roles: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Admin (Librarian) and Student actors.</a:t>
                </a:r>
              </a:p>
            </p:txBody>
          </p:sp>
          <p:pic>
            <p:nvPicPr>
              <p:cNvPr id="17" name="Picture 16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3303434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243BB903-E2EB-94A3-FD3B-1AA315B2D3A9}"/>
                </a:ext>
              </a:extLst>
            </p:cNvPr>
            <p:cNvGrpSpPr/>
            <p:nvPr/>
          </p:nvGrpSpPr>
          <p:grpSpPr>
            <a:xfrm>
              <a:off x="771525" y="3620212"/>
              <a:ext cx="4953000" cy="483393"/>
              <a:chOff x="771525" y="3590329"/>
              <a:chExt cx="4953000" cy="483393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1000125" y="3590329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Core Functional Modules: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Book catalog, PDF repository, reservations, and fines.</a:t>
                </a:r>
              </a:p>
            </p:txBody>
          </p:sp>
          <p:pic>
            <p:nvPicPr>
              <p:cNvPr id="18" name="Picture 17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3664285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040B6511-BEFC-1D2E-A733-261391F5F497}"/>
                </a:ext>
              </a:extLst>
            </p:cNvPr>
            <p:cNvGrpSpPr/>
            <p:nvPr/>
          </p:nvGrpSpPr>
          <p:grpSpPr>
            <a:xfrm>
              <a:off x="771525" y="4306434"/>
              <a:ext cx="4953000" cy="483393"/>
              <a:chOff x="771525" y="4168973"/>
              <a:chExt cx="4953000" cy="483393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1000125" y="4168973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Automated Rules: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Automatic fine calculation upon overdue book return.</a:t>
                </a:r>
              </a:p>
            </p:txBody>
          </p:sp>
          <p:pic>
            <p:nvPicPr>
              <p:cNvPr id="19" name="Picture 18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4242929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ED87408B-6ED7-D2E6-A242-2E7A67E97069}"/>
                </a:ext>
              </a:extLst>
            </p:cNvPr>
            <p:cNvGrpSpPr/>
            <p:nvPr/>
          </p:nvGrpSpPr>
          <p:grpSpPr>
            <a:xfrm>
              <a:off x="771525" y="4992651"/>
              <a:ext cx="4953000" cy="483393"/>
              <a:chOff x="771525" y="4747617"/>
              <a:chExt cx="4953000" cy="483393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1000125" y="4747617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Non-Functional Goals: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Q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uick responses,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 system availability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and secure 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login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20" name="Picture 19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4821573"/>
                <a:ext cx="104775" cy="133350"/>
              </a:xfrm>
              <a:prstGeom prst="rect">
                <a:avLst/>
              </a:prstGeom>
            </p:spPr>
          </p:pic>
        </p:grp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B3440969-12EE-FB21-ACBD-55E6A1A235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05524" y="995714"/>
            <a:ext cx="5853393" cy="538360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976" y="11952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228736"/>
            <a:ext cx="5486400" cy="487324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228736"/>
            <a:ext cx="5486400" cy="48732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2306" y="1631403"/>
            <a:ext cx="4705350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 dirty="0">
                <a:solidFill>
                  <a:srgbClr val="000000"/>
                </a:solidFill>
                <a:latin typeface="Plus Jakarta Sans"/>
              </a:rPr>
              <a:t>Physical Book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78125" y="1631403"/>
            <a:ext cx="463867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2000" b="1" i="0" u="none" dirty="0">
                <a:solidFill>
                  <a:srgbClr val="000000"/>
                </a:solidFill>
                <a:latin typeface="Plus Jakarta Sans"/>
              </a:rPr>
              <a:t>Digital &amp; Smart Services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2797" y="284843"/>
            <a:ext cx="7290754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Major Features: Student Panel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32168815-DA68-C4E8-9756-9E6EFC6E9345}"/>
              </a:ext>
            </a:extLst>
          </p:cNvPr>
          <p:cNvGrpSpPr/>
          <p:nvPr/>
        </p:nvGrpSpPr>
        <p:grpSpPr>
          <a:xfrm>
            <a:off x="771525" y="2420211"/>
            <a:ext cx="4953000" cy="487313"/>
            <a:chOff x="771525" y="2964060"/>
            <a:chExt cx="4953000" cy="487313"/>
          </a:xfrm>
        </p:grpSpPr>
        <p:sp>
          <p:nvSpPr>
            <p:cNvPr id="9" name="TextBox 8"/>
            <p:cNvSpPr txBox="1"/>
            <p:nvPr/>
          </p:nvSpPr>
          <p:spPr>
            <a:xfrm>
              <a:off x="1000125" y="2964060"/>
              <a:ext cx="4724400" cy="487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Search Physical Books: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Search by title, author, or category.</a:t>
              </a:r>
            </a:p>
          </p:txBody>
        </p:sp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1525" y="3020088"/>
              <a:ext cx="104775" cy="1333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C1BF95D-C94C-DBDB-8499-22EB8AF46736}"/>
              </a:ext>
            </a:extLst>
          </p:cNvPr>
          <p:cNvGrpSpPr/>
          <p:nvPr/>
        </p:nvGrpSpPr>
        <p:grpSpPr>
          <a:xfrm>
            <a:off x="771525" y="3151604"/>
            <a:ext cx="4953000" cy="483393"/>
            <a:chOff x="771525" y="3301007"/>
            <a:chExt cx="4953000" cy="483393"/>
          </a:xfrm>
        </p:grpSpPr>
        <p:sp>
          <p:nvSpPr>
            <p:cNvPr id="10" name="TextBox 9"/>
            <p:cNvSpPr txBox="1"/>
            <p:nvPr/>
          </p:nvSpPr>
          <p:spPr>
            <a:xfrm>
              <a:off x="1000125" y="3301007"/>
              <a:ext cx="4724400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Check Availability: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Check online whether the book is available in the library.</a:t>
              </a:r>
            </a:p>
          </p:txBody>
        </p:sp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1525" y="3357035"/>
              <a:ext cx="104775" cy="133350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EFE81DE-E94A-D7A4-8FFD-64C99A5D26FD}"/>
              </a:ext>
            </a:extLst>
          </p:cNvPr>
          <p:cNvGrpSpPr/>
          <p:nvPr/>
        </p:nvGrpSpPr>
        <p:grpSpPr>
          <a:xfrm>
            <a:off x="771525" y="3849774"/>
            <a:ext cx="4953000" cy="483393"/>
            <a:chOff x="771525" y="3879651"/>
            <a:chExt cx="4953000" cy="483393"/>
          </a:xfrm>
        </p:grpSpPr>
        <p:sp>
          <p:nvSpPr>
            <p:cNvPr id="11" name="TextBox 10"/>
            <p:cNvSpPr txBox="1"/>
            <p:nvPr/>
          </p:nvSpPr>
          <p:spPr>
            <a:xfrm>
              <a:off x="1000125" y="3879651"/>
              <a:ext cx="4724400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Request Issue: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Submit an issue request</a:t>
              </a: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through the portal.</a:t>
              </a:r>
            </a:p>
          </p:txBody>
        </p:sp>
        <p:pic>
          <p:nvPicPr>
            <p:cNvPr id="22" name="Picture 21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1525" y="3935679"/>
              <a:ext cx="104775" cy="13335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C2F2A742-2CD5-0A15-7CB4-22D521846640}"/>
              </a:ext>
            </a:extLst>
          </p:cNvPr>
          <p:cNvGrpSpPr/>
          <p:nvPr/>
        </p:nvGrpSpPr>
        <p:grpSpPr>
          <a:xfrm>
            <a:off x="771525" y="4571855"/>
            <a:ext cx="4953000" cy="487313"/>
            <a:chOff x="771525" y="4458295"/>
            <a:chExt cx="4953000" cy="487313"/>
          </a:xfrm>
        </p:grpSpPr>
        <p:sp>
          <p:nvSpPr>
            <p:cNvPr id="12" name="TextBox 11"/>
            <p:cNvSpPr txBox="1"/>
            <p:nvPr/>
          </p:nvSpPr>
          <p:spPr>
            <a:xfrm>
              <a:off x="1000125" y="4458295"/>
              <a:ext cx="4724400" cy="487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View Issued Books: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Check </a:t>
              </a: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borrowed books and their due dates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.</a:t>
              </a:r>
            </a:p>
          </p:txBody>
        </p:sp>
        <p:pic>
          <p:nvPicPr>
            <p:cNvPr id="23" name="Picture 22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71525" y="4514323"/>
              <a:ext cx="104775" cy="13335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2283E08-B216-A8EE-B304-F825A7DDA765}"/>
              </a:ext>
            </a:extLst>
          </p:cNvPr>
          <p:cNvGrpSpPr/>
          <p:nvPr/>
        </p:nvGrpSpPr>
        <p:grpSpPr>
          <a:xfrm>
            <a:off x="6486525" y="2396290"/>
            <a:ext cx="4953000" cy="483393"/>
            <a:chOff x="6486525" y="2964060"/>
            <a:chExt cx="4953000" cy="483393"/>
          </a:xfrm>
        </p:grpSpPr>
        <p:sp>
          <p:nvSpPr>
            <p:cNvPr id="14" name="TextBox 13"/>
            <p:cNvSpPr txBox="1"/>
            <p:nvPr/>
          </p:nvSpPr>
          <p:spPr>
            <a:xfrm>
              <a:off x="6715125" y="2964060"/>
              <a:ext cx="4724400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Download Digital PDFs: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Direct access to course slides and lecture notes.</a:t>
              </a:r>
            </a:p>
          </p:txBody>
        </p:sp>
        <p:pic>
          <p:nvPicPr>
            <p:cNvPr id="24" name="Picture 23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6525" y="3020088"/>
              <a:ext cx="104775" cy="13335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0AC7012D-5BCB-2283-22B7-153D7B7AFE2D}"/>
              </a:ext>
            </a:extLst>
          </p:cNvPr>
          <p:cNvGrpSpPr/>
          <p:nvPr/>
        </p:nvGrpSpPr>
        <p:grpSpPr>
          <a:xfrm>
            <a:off x="6486525" y="3136304"/>
            <a:ext cx="4953000" cy="483393"/>
            <a:chOff x="6486525" y="3542704"/>
            <a:chExt cx="4953000" cy="483393"/>
          </a:xfrm>
        </p:grpSpPr>
        <p:sp>
          <p:nvSpPr>
            <p:cNvPr id="15" name="TextBox 14"/>
            <p:cNvSpPr txBox="1"/>
            <p:nvPr/>
          </p:nvSpPr>
          <p:spPr>
            <a:xfrm>
              <a:off x="6715125" y="3542704"/>
              <a:ext cx="4724400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Use AI Chatbot: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Ask questions and receive instant assistance.</a:t>
              </a:r>
            </a:p>
          </p:txBody>
        </p:sp>
        <p:pic>
          <p:nvPicPr>
            <p:cNvPr id="25" name="Picture 24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6525" y="3598732"/>
              <a:ext cx="104775" cy="13335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77D2107-CDAB-9B7E-F41F-8D93A5DFC681}"/>
              </a:ext>
            </a:extLst>
          </p:cNvPr>
          <p:cNvGrpSpPr/>
          <p:nvPr/>
        </p:nvGrpSpPr>
        <p:grpSpPr>
          <a:xfrm>
            <a:off x="6486525" y="3852414"/>
            <a:ext cx="4953000" cy="487313"/>
            <a:chOff x="6486525" y="4121348"/>
            <a:chExt cx="4953000" cy="487313"/>
          </a:xfrm>
        </p:grpSpPr>
        <p:sp>
          <p:nvSpPr>
            <p:cNvPr id="16" name="TextBox 15"/>
            <p:cNvSpPr txBox="1"/>
            <p:nvPr/>
          </p:nvSpPr>
          <p:spPr>
            <a:xfrm>
              <a:off x="6715125" y="4121348"/>
              <a:ext cx="4724400" cy="487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Track Fines: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See calculated fines &amp; payment </a:t>
              </a:r>
            </a:p>
            <a:p>
              <a:pPr algn="l">
                <a:lnSpc>
                  <a:spcPts val="1903"/>
                </a:lnSpc>
              </a:pP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status.</a:t>
              </a:r>
              <a:endParaRPr b="0" i="0" u="none" dirty="0">
                <a:solidFill>
                  <a:srgbClr val="334155"/>
                </a:solidFill>
                <a:latin typeface="Plus Jakarta Sans"/>
              </a:endParaRPr>
            </a:p>
          </p:txBody>
        </p:sp>
        <p:pic>
          <p:nvPicPr>
            <p:cNvPr id="26" name="Picture 25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6525" y="4177376"/>
              <a:ext cx="104775" cy="133350"/>
            </a:xfrm>
            <a:prstGeom prst="rect">
              <a:avLst/>
            </a:prstGeom>
          </p:spPr>
        </p:pic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FEB2588-EA52-FDD9-7B6C-F462210633BA}"/>
              </a:ext>
            </a:extLst>
          </p:cNvPr>
          <p:cNvGrpSpPr/>
          <p:nvPr/>
        </p:nvGrpSpPr>
        <p:grpSpPr>
          <a:xfrm>
            <a:off x="6486525" y="4568512"/>
            <a:ext cx="4953000" cy="487313"/>
            <a:chOff x="6486525" y="4699992"/>
            <a:chExt cx="4953000" cy="487313"/>
          </a:xfrm>
        </p:grpSpPr>
        <p:sp>
          <p:nvSpPr>
            <p:cNvPr id="17" name="TextBox 16"/>
            <p:cNvSpPr txBox="1"/>
            <p:nvPr/>
          </p:nvSpPr>
          <p:spPr>
            <a:xfrm>
              <a:off x="6715125" y="4699992"/>
              <a:ext cx="4724400" cy="487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Book Requests: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Request new </a:t>
              </a: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books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for </a:t>
              </a:r>
              <a:endParaRPr lang="en-US" b="0" i="0" u="none" dirty="0">
                <a:solidFill>
                  <a:srgbClr val="334155"/>
                </a:solidFill>
                <a:latin typeface="Plus Jakarta Sans"/>
              </a:endParaRPr>
            </a:p>
            <a:p>
              <a:pPr algn="l">
                <a:lnSpc>
                  <a:spcPts val="1903"/>
                </a:lnSpc>
              </a:pP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library.</a:t>
              </a:r>
            </a:p>
          </p:txBody>
        </p:sp>
        <p:pic>
          <p:nvPicPr>
            <p:cNvPr id="27" name="Picture 26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86525" y="4756020"/>
              <a:ext cx="104775" cy="1333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" y="1253751"/>
            <a:ext cx="5486400" cy="50097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300" y="1263275"/>
            <a:ext cx="5486400" cy="50002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26138" y="1712427"/>
            <a:ext cx="465772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000" b="1" i="0" u="none" dirty="0">
                <a:solidFill>
                  <a:srgbClr val="000000"/>
                </a:solidFill>
                <a:latin typeface="Plus Jakarta Sans"/>
              </a:rPr>
              <a:t>Books &amp; Resource Management</a:t>
            </a:r>
            <a:endParaRPr sz="2000" b="1" i="0" u="none" dirty="0">
              <a:solidFill>
                <a:srgbClr val="000000"/>
              </a:solidFill>
              <a:latin typeface="Plus Jakarta San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48614" y="1736331"/>
            <a:ext cx="4733925" cy="3077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n-US" sz="2000" b="1" i="0" u="none" dirty="0">
                <a:solidFill>
                  <a:srgbClr val="000000"/>
                </a:solidFill>
                <a:latin typeface="Plus Jakarta Sans"/>
              </a:rPr>
              <a:t>Requests</a:t>
            </a:r>
            <a:r>
              <a:rPr sz="2000" b="1" i="0" u="none" dirty="0">
                <a:solidFill>
                  <a:srgbClr val="000000"/>
                </a:solidFill>
                <a:latin typeface="Plus Jakarta Sans"/>
              </a:rPr>
              <a:t> &amp; Fine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717" y="272891"/>
            <a:ext cx="7418739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Major Features: Admin Panel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5B01E9A5-771A-3220-B453-94EDC2B05C97}"/>
              </a:ext>
            </a:extLst>
          </p:cNvPr>
          <p:cNvGrpSpPr/>
          <p:nvPr/>
        </p:nvGrpSpPr>
        <p:grpSpPr>
          <a:xfrm>
            <a:off x="752475" y="2606112"/>
            <a:ext cx="4953000" cy="487313"/>
            <a:chOff x="771525" y="3132534"/>
            <a:chExt cx="4953000" cy="487313"/>
          </a:xfrm>
        </p:grpSpPr>
        <p:sp>
          <p:nvSpPr>
            <p:cNvPr id="9" name="TextBox 8"/>
            <p:cNvSpPr txBox="1"/>
            <p:nvPr/>
          </p:nvSpPr>
          <p:spPr>
            <a:xfrm>
              <a:off x="1000125" y="3132534"/>
              <a:ext cx="4724400" cy="487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Add / Edit / Delete Books: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Add, update, or remove physical books records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.</a:t>
              </a:r>
            </a:p>
          </p:txBody>
        </p:sp>
        <p:pic>
          <p:nvPicPr>
            <p:cNvPr id="18" name="Picture 17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1525" y="3170634"/>
              <a:ext cx="104775" cy="13335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2B05FD0C-4F2D-528E-5E8C-D4117E4FE82C}"/>
              </a:ext>
            </a:extLst>
          </p:cNvPr>
          <p:cNvGrpSpPr/>
          <p:nvPr/>
        </p:nvGrpSpPr>
        <p:grpSpPr>
          <a:xfrm>
            <a:off x="752475" y="3543403"/>
            <a:ext cx="4953000" cy="483393"/>
            <a:chOff x="771525" y="3711178"/>
            <a:chExt cx="4953000" cy="483393"/>
          </a:xfrm>
        </p:grpSpPr>
        <p:sp>
          <p:nvSpPr>
            <p:cNvPr id="10" name="TextBox 9"/>
            <p:cNvSpPr txBox="1"/>
            <p:nvPr/>
          </p:nvSpPr>
          <p:spPr>
            <a:xfrm>
              <a:off x="1000125" y="3711178"/>
              <a:ext cx="4724400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Upload Digital Resources: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Upload PDF books and lecture notes easily.</a:t>
              </a:r>
            </a:p>
          </p:txBody>
        </p:sp>
        <p:pic>
          <p:nvPicPr>
            <p:cNvPr id="19" name="Picture 18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1525" y="3749278"/>
              <a:ext cx="104775" cy="1333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DE70755B-E373-B4DB-18C9-D92B015DE48D}"/>
              </a:ext>
            </a:extLst>
          </p:cNvPr>
          <p:cNvGrpSpPr/>
          <p:nvPr/>
        </p:nvGrpSpPr>
        <p:grpSpPr>
          <a:xfrm>
            <a:off x="771525" y="4463135"/>
            <a:ext cx="4953000" cy="483393"/>
            <a:chOff x="771525" y="4289821"/>
            <a:chExt cx="4953000" cy="483393"/>
          </a:xfrm>
        </p:grpSpPr>
        <p:sp>
          <p:nvSpPr>
            <p:cNvPr id="11" name="TextBox 10"/>
            <p:cNvSpPr txBox="1"/>
            <p:nvPr/>
          </p:nvSpPr>
          <p:spPr>
            <a:xfrm>
              <a:off x="1000125" y="4289821"/>
              <a:ext cx="4724400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Dashboard Overview: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</a:t>
              </a:r>
              <a:r>
                <a:rPr lang="en-US" dirty="0">
                  <a:solidFill>
                    <a:srgbClr val="334155"/>
                  </a:solidFill>
                  <a:latin typeface="Plus Jakarta Sans"/>
                </a:rPr>
                <a:t>S</a:t>
              </a: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ee current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stats </a:t>
              </a: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for 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books, users, and requests.</a:t>
              </a:r>
            </a:p>
          </p:txBody>
        </p:sp>
        <p:pic>
          <p:nvPicPr>
            <p:cNvPr id="20" name="Picture 19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71525" y="4327921"/>
              <a:ext cx="104775" cy="13335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45E7DEB-759B-C0E1-7B53-34A826067FA5}"/>
              </a:ext>
            </a:extLst>
          </p:cNvPr>
          <p:cNvGrpSpPr/>
          <p:nvPr/>
        </p:nvGrpSpPr>
        <p:grpSpPr>
          <a:xfrm>
            <a:off x="6477000" y="2523663"/>
            <a:ext cx="4953000" cy="483393"/>
            <a:chOff x="6486525" y="3132534"/>
            <a:chExt cx="4953000" cy="483393"/>
          </a:xfrm>
        </p:grpSpPr>
        <p:sp>
          <p:nvSpPr>
            <p:cNvPr id="13" name="TextBox 12"/>
            <p:cNvSpPr txBox="1"/>
            <p:nvPr/>
          </p:nvSpPr>
          <p:spPr>
            <a:xfrm>
              <a:off x="6715125" y="3132534"/>
              <a:ext cx="4724400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Manage Students: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Approve, view, and manage student accounts.</a:t>
              </a:r>
            </a:p>
          </p:txBody>
        </p:sp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86525" y="3170634"/>
              <a:ext cx="104775" cy="133350"/>
            </a:xfrm>
            <a:prstGeom prst="rect">
              <a:avLst/>
            </a:prstGeom>
          </p:spPr>
        </p:pic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D7CCFF4-7ED0-0B9E-AD44-13C460C0ABD6}"/>
              </a:ext>
            </a:extLst>
          </p:cNvPr>
          <p:cNvGrpSpPr/>
          <p:nvPr/>
        </p:nvGrpSpPr>
        <p:grpSpPr>
          <a:xfrm>
            <a:off x="6467475" y="3520139"/>
            <a:ext cx="4953000" cy="483393"/>
            <a:chOff x="6486525" y="3711178"/>
            <a:chExt cx="4953000" cy="483393"/>
          </a:xfrm>
        </p:grpSpPr>
        <p:sp>
          <p:nvSpPr>
            <p:cNvPr id="14" name="TextBox 13"/>
            <p:cNvSpPr txBox="1"/>
            <p:nvPr/>
          </p:nvSpPr>
          <p:spPr>
            <a:xfrm>
              <a:off x="6715125" y="3711178"/>
              <a:ext cx="4724400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1" i="0" u="none" dirty="0">
                  <a:solidFill>
                    <a:srgbClr val="0F172A"/>
                  </a:solidFill>
                  <a:latin typeface="Plus Jakarta Sans"/>
                </a:rPr>
                <a:t>Approve Requests: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Accept or reject pending book issue requests.</a:t>
              </a:r>
            </a:p>
          </p:txBody>
        </p:sp>
        <p:pic>
          <p:nvPicPr>
            <p:cNvPr id="22" name="Picture 21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486525" y="3767206"/>
              <a:ext cx="104775" cy="133350"/>
            </a:xfrm>
            <a:prstGeom prst="rect">
              <a:avLst/>
            </a:prstGeom>
          </p:spPr>
        </p:pic>
      </p:grpSp>
      <p:sp>
        <p:nvSpPr>
          <p:cNvPr id="15" name="TextBox 14"/>
          <p:cNvSpPr txBox="1"/>
          <p:nvPr/>
        </p:nvSpPr>
        <p:spPr>
          <a:xfrm>
            <a:off x="6696075" y="4425100"/>
            <a:ext cx="4724400" cy="4833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903"/>
              </a:lnSpc>
            </a:pPr>
            <a:r>
              <a:rPr b="1" i="0" u="none" dirty="0">
                <a:solidFill>
                  <a:srgbClr val="0F172A"/>
                </a:solidFill>
                <a:latin typeface="Plus Jakarta Sans"/>
              </a:rPr>
              <a:t>Fine Management: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 Monitor overdue fees and record</a:t>
            </a:r>
            <a:r>
              <a:rPr lang="en-US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1-Bill</a:t>
            </a:r>
            <a:r>
              <a:rPr lang="en-US" b="0" i="0" u="none" dirty="0">
                <a:solidFill>
                  <a:srgbClr val="334155"/>
                </a:solidFill>
                <a:latin typeface="Plus Jakarta Sans"/>
              </a:rPr>
              <a:t> </a:t>
            </a:r>
            <a:r>
              <a:rPr b="0" i="0" u="none" dirty="0">
                <a:solidFill>
                  <a:srgbClr val="334155"/>
                </a:solidFill>
                <a:latin typeface="Plus Jakarta Sans"/>
              </a:rPr>
              <a:t>payments</a:t>
            </a:r>
            <a:r>
              <a:rPr lang="en-US" dirty="0">
                <a:solidFill>
                  <a:srgbClr val="334155"/>
                </a:solidFill>
                <a:latin typeface="Plus Jakarta Sans"/>
              </a:rPr>
              <a:t> (Invoice Voucher).</a:t>
            </a:r>
            <a:endParaRPr b="0" i="0" u="none" dirty="0">
              <a:solidFill>
                <a:srgbClr val="334155"/>
              </a:solidFill>
              <a:latin typeface="Plus Jakarta Sans"/>
            </a:endParaRP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7475" y="4475152"/>
            <a:ext cx="104775" cy="1333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7BFB3-B5F7-737D-8CEC-A436334C6E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3E9D8918-1838-72F9-EAE4-C34F80F5C8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31ED5A3-1FB5-A8F8-EE7A-DC7096C467B1}"/>
              </a:ext>
            </a:extLst>
          </p:cNvPr>
          <p:cNvSpPr txBox="1"/>
          <p:nvPr/>
        </p:nvSpPr>
        <p:spPr>
          <a:xfrm>
            <a:off x="374913" y="301466"/>
            <a:ext cx="8368858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Digital Library Module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D771916-CEE5-2FED-E188-86C85EE4D77E}"/>
              </a:ext>
            </a:extLst>
          </p:cNvPr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1A6F664-C9FD-02A7-A21D-B9545C0C71D7}"/>
              </a:ext>
            </a:extLst>
          </p:cNvPr>
          <p:cNvGrpSpPr/>
          <p:nvPr/>
        </p:nvGrpSpPr>
        <p:grpSpPr>
          <a:xfrm>
            <a:off x="136720" y="1359732"/>
            <a:ext cx="6065925" cy="5068494"/>
            <a:chOff x="495300" y="1404110"/>
            <a:chExt cx="6568884" cy="4913342"/>
          </a:xfrm>
        </p:grpSpPr>
        <p:pic>
          <p:nvPicPr>
            <p:cNvPr id="3" name="Picture 2" descr="image.png">
              <a:extLst>
                <a:ext uri="{FF2B5EF4-FFF2-40B4-BE49-F238E27FC236}">
                  <a16:creationId xmlns:a16="http://schemas.microsoft.com/office/drawing/2014/main" id="{8651BC63-FE9B-C624-D8D6-EB13DFCAF20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95300" y="1404110"/>
              <a:ext cx="6568884" cy="4913342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31214F98-1E5F-DA44-8965-C04C25FC59BD}"/>
                </a:ext>
              </a:extLst>
            </p:cNvPr>
            <p:cNvSpPr txBox="1"/>
            <p:nvPr/>
          </p:nvSpPr>
          <p:spPr>
            <a:xfrm>
              <a:off x="754652" y="1807196"/>
              <a:ext cx="4657724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1" i="0" u="none" dirty="0">
                  <a:solidFill>
                    <a:srgbClr val="000000"/>
                  </a:solidFill>
                  <a:latin typeface="Plus Jakarta Sans"/>
                </a:rPr>
                <a:t>Module Capabilities</a:t>
              </a:r>
            </a:p>
          </p:txBody>
        </p: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240D5DC8-7841-2FCE-4B34-A36280F7069F}"/>
                </a:ext>
              </a:extLst>
            </p:cNvPr>
            <p:cNvGrpSpPr/>
            <p:nvPr/>
          </p:nvGrpSpPr>
          <p:grpSpPr>
            <a:xfrm>
              <a:off x="771526" y="2514008"/>
              <a:ext cx="5859229" cy="472396"/>
              <a:chOff x="771526" y="3093720"/>
              <a:chExt cx="7287265" cy="472396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6DC849A4-5F18-E6CE-B22D-E317B0DB4C3B}"/>
                  </a:ext>
                </a:extLst>
              </p:cNvPr>
              <p:cNvSpPr txBox="1"/>
              <p:nvPr/>
            </p:nvSpPr>
            <p:spPr>
              <a:xfrm>
                <a:off x="1000127" y="3093720"/>
                <a:ext cx="7058664" cy="4723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sz="1900" b="1" i="0" u="none" dirty="0">
                    <a:solidFill>
                      <a:srgbClr val="0F172A"/>
                    </a:solidFill>
                    <a:latin typeface="Plus Jakarta Sans"/>
                  </a:rPr>
                  <a:t>Admin PDF Uploads:</a:t>
                </a:r>
                <a:r>
                  <a:rPr sz="1900" b="0" i="0" u="none" dirty="0">
                    <a:solidFill>
                      <a:srgbClr val="334155"/>
                    </a:solidFill>
                    <a:latin typeface="Plus Jakarta Sans"/>
                  </a:rPr>
                  <a:t> Librarians upload digital copies with </a:t>
                </a:r>
                <a:r>
                  <a:rPr lang="en-US" sz="1900" b="0" i="0" u="none" dirty="0">
                    <a:solidFill>
                      <a:srgbClr val="334155"/>
                    </a:solidFill>
                    <a:latin typeface="Plus Jakarta Sans"/>
                  </a:rPr>
                  <a:t>basic information</a:t>
                </a:r>
                <a:r>
                  <a:rPr sz="1900"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20" name="Picture 19" descr="image.png">
                <a:extLst>
                  <a:ext uri="{FF2B5EF4-FFF2-40B4-BE49-F238E27FC236}">
                    <a16:creationId xmlns:a16="http://schemas.microsoft.com/office/drawing/2014/main" id="{0618F235-A654-8B6F-806E-1F25C6AA568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1526" y="3149741"/>
                <a:ext cx="85070" cy="133350"/>
              </a:xfrm>
              <a:prstGeom prst="rect">
                <a:avLst/>
              </a:prstGeom>
            </p:spPr>
          </p:pic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0CB77821-D275-3CF6-0FB1-6061ED2ADED3}"/>
                </a:ext>
              </a:extLst>
            </p:cNvPr>
            <p:cNvGrpSpPr/>
            <p:nvPr/>
          </p:nvGrpSpPr>
          <p:grpSpPr>
            <a:xfrm>
              <a:off x="771526" y="3212189"/>
              <a:ext cx="5301760" cy="472396"/>
              <a:chOff x="771526" y="3672364"/>
              <a:chExt cx="5855785" cy="472396"/>
            </a:xfrm>
          </p:grpSpPr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1935595-AC67-EE70-471E-056320252FFB}"/>
                  </a:ext>
                </a:extLst>
              </p:cNvPr>
              <p:cNvSpPr txBox="1"/>
              <p:nvPr/>
            </p:nvSpPr>
            <p:spPr>
              <a:xfrm>
                <a:off x="1000124" y="3672364"/>
                <a:ext cx="5627187" cy="4723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sz="1900" b="1" i="0" u="none" dirty="0">
                    <a:solidFill>
                      <a:srgbClr val="0F172A"/>
                    </a:solidFill>
                    <a:latin typeface="Plus Jakarta Sans"/>
                  </a:rPr>
                  <a:t>Organized Structure:</a:t>
                </a:r>
                <a:r>
                  <a:rPr sz="1900"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sz="1900" b="0" i="0" u="none" dirty="0">
                    <a:solidFill>
                      <a:srgbClr val="334155"/>
                    </a:solidFill>
                    <a:latin typeface="Plus Jakarta Sans"/>
                  </a:rPr>
                  <a:t>Resources are </a:t>
                </a:r>
                <a:r>
                  <a:rPr lang="en-US" sz="1900" dirty="0">
                    <a:solidFill>
                      <a:srgbClr val="334155"/>
                    </a:solidFill>
                    <a:latin typeface="Plus Jakarta Sans"/>
                  </a:rPr>
                  <a:t>c</a:t>
                </a:r>
                <a:r>
                  <a:rPr sz="1900" b="0" i="0" u="none" dirty="0">
                    <a:solidFill>
                      <a:srgbClr val="334155"/>
                    </a:solidFill>
                    <a:latin typeface="Plus Jakarta Sans"/>
                  </a:rPr>
                  <a:t>ategorized by Subject</a:t>
                </a:r>
                <a:r>
                  <a:rPr lang="en-US" sz="1900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sz="1900" b="0" i="0" u="none" dirty="0">
                    <a:solidFill>
                      <a:srgbClr val="334155"/>
                    </a:solidFill>
                    <a:latin typeface="Plus Jakarta Sans"/>
                  </a:rPr>
                  <a:t>&amp;</a:t>
                </a:r>
                <a:r>
                  <a:rPr sz="1900" b="0" i="0" u="none" dirty="0">
                    <a:solidFill>
                      <a:srgbClr val="334155"/>
                    </a:solidFill>
                    <a:latin typeface="Plus Jakarta Sans"/>
                  </a:rPr>
                  <a:t> Category.</a:t>
                </a:r>
              </a:p>
            </p:txBody>
          </p:sp>
          <p:pic>
            <p:nvPicPr>
              <p:cNvPr id="21" name="Picture 20" descr="image.png">
                <a:extLst>
                  <a:ext uri="{FF2B5EF4-FFF2-40B4-BE49-F238E27FC236}">
                    <a16:creationId xmlns:a16="http://schemas.microsoft.com/office/drawing/2014/main" id="{7B4AC411-D57F-DCB6-C18B-A0A28716B65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1526" y="3734355"/>
                <a:ext cx="85070" cy="133350"/>
              </a:xfrm>
              <a:prstGeom prst="rect">
                <a:avLst/>
              </a:prstGeom>
            </p:spPr>
          </p:pic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7EADE77-A3B8-B23D-1708-B96F8804CF74}"/>
                </a:ext>
              </a:extLst>
            </p:cNvPr>
            <p:cNvGrpSpPr/>
            <p:nvPr/>
          </p:nvGrpSpPr>
          <p:grpSpPr>
            <a:xfrm>
              <a:off x="765549" y="3937610"/>
              <a:ext cx="4956982" cy="472396"/>
              <a:chOff x="771525" y="4316747"/>
              <a:chExt cx="5753888" cy="472396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1A6A84B9-04AD-B981-755F-05AFD94940A5}"/>
                  </a:ext>
                </a:extLst>
              </p:cNvPr>
              <p:cNvSpPr txBox="1"/>
              <p:nvPr/>
            </p:nvSpPr>
            <p:spPr>
              <a:xfrm>
                <a:off x="1000126" y="4316747"/>
                <a:ext cx="5525287" cy="4723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1903"/>
                  </a:lnSpc>
                </a:pPr>
                <a:r>
                  <a:rPr lang="en-US" sz="1900" b="1" dirty="0">
                    <a:solidFill>
                      <a:srgbClr val="0F172A"/>
                    </a:solidFill>
                    <a:latin typeface="Plus Jakarta Sans"/>
                  </a:rPr>
                  <a:t>View &amp; Download:</a:t>
                </a:r>
                <a:r>
                  <a:rPr lang="en-US" sz="1900" dirty="0">
                    <a:solidFill>
                      <a:srgbClr val="334155"/>
                    </a:solidFill>
                    <a:latin typeface="Plus Jakarta Sans"/>
                  </a:rPr>
                  <a:t> Read inside browser or download for offline study</a:t>
                </a:r>
                <a:endParaRPr sz="1900" b="0" i="0" u="none" dirty="0">
                  <a:solidFill>
                    <a:srgbClr val="334155"/>
                  </a:solidFill>
                  <a:latin typeface="Plus Jakarta Sans"/>
                </a:endParaRPr>
              </a:p>
            </p:txBody>
          </p:sp>
          <p:pic>
            <p:nvPicPr>
              <p:cNvPr id="22" name="Picture 21" descr="image.png">
                <a:extLst>
                  <a:ext uri="{FF2B5EF4-FFF2-40B4-BE49-F238E27FC236}">
                    <a16:creationId xmlns:a16="http://schemas.microsoft.com/office/drawing/2014/main" id="{43051C69-8BB2-0787-476D-986F22602C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71525" y="4372784"/>
                <a:ext cx="85071" cy="133350"/>
              </a:xfrm>
              <a:prstGeom prst="rect">
                <a:avLst/>
              </a:prstGeom>
            </p:spPr>
          </p:pic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F75EFF59-1590-7D20-D048-ED3C1DBA38E7}"/>
                </a:ext>
              </a:extLst>
            </p:cNvPr>
            <p:cNvGrpSpPr/>
            <p:nvPr/>
          </p:nvGrpSpPr>
          <p:grpSpPr>
            <a:xfrm>
              <a:off x="765550" y="4726363"/>
              <a:ext cx="5307736" cy="472396"/>
              <a:chOff x="765550" y="5026871"/>
              <a:chExt cx="6601360" cy="472396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BC8CA3F7-4FEA-0295-900E-3ABF2723451B}"/>
                  </a:ext>
                </a:extLst>
              </p:cNvPr>
              <p:cNvSpPr txBox="1"/>
              <p:nvPr/>
            </p:nvSpPr>
            <p:spPr>
              <a:xfrm>
                <a:off x="1000127" y="5026871"/>
                <a:ext cx="6366783" cy="472396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ts val="1903"/>
                  </a:lnSpc>
                </a:pPr>
                <a:r>
                  <a:rPr lang="en-US" sz="1900" b="1" dirty="0">
                    <a:solidFill>
                      <a:srgbClr val="0F172A"/>
                    </a:solidFill>
                    <a:latin typeface="Plus Jakarta Sans"/>
                  </a:rPr>
                  <a:t>24/7 Access &amp; No Physical Dependency:</a:t>
                </a:r>
                <a:r>
                  <a:rPr lang="en-US" sz="1900" dirty="0">
                    <a:solidFill>
                      <a:srgbClr val="334155"/>
                    </a:solidFill>
                    <a:latin typeface="Plus Jakarta Sans"/>
                  </a:rPr>
                  <a:t> Students can read &amp; access pdfs anytime.</a:t>
                </a:r>
              </a:p>
            </p:txBody>
          </p:sp>
          <p:pic>
            <p:nvPicPr>
              <p:cNvPr id="23" name="Picture 22" descr="image.png">
                <a:extLst>
                  <a:ext uri="{FF2B5EF4-FFF2-40B4-BE49-F238E27FC236}">
                    <a16:creationId xmlns:a16="http://schemas.microsoft.com/office/drawing/2014/main" id="{22AE6C4B-70A7-8857-A2E6-FBF433128D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65550" y="5088862"/>
                <a:ext cx="85070" cy="133350"/>
              </a:xfrm>
              <a:prstGeom prst="rect">
                <a:avLst/>
              </a:prstGeom>
            </p:spPr>
          </p:pic>
        </p:grpSp>
      </p:grpSp>
      <p:pic>
        <p:nvPicPr>
          <p:cNvPr id="48" name="Picture 47">
            <a:extLst>
              <a:ext uri="{FF2B5EF4-FFF2-40B4-BE49-F238E27FC236}">
                <a16:creationId xmlns:a16="http://schemas.microsoft.com/office/drawing/2014/main" id="{916AA56C-BB4D-4F28-011D-0CC7C41ECD3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16016" b="8270"/>
          <a:stretch>
            <a:fillRect/>
          </a:stretch>
        </p:blipFill>
        <p:spPr>
          <a:xfrm>
            <a:off x="6392255" y="1249984"/>
            <a:ext cx="5585333" cy="4970827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795442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460ED2-70A5-BF73-CDF3-4B48922C9D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>
            <a:extLst>
              <a:ext uri="{FF2B5EF4-FFF2-40B4-BE49-F238E27FC236}">
                <a16:creationId xmlns:a16="http://schemas.microsoft.com/office/drawing/2014/main" id="{0B061FFB-4827-1209-AE3A-852BC8D9DB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52"/>
            <a:ext cx="12192000" cy="6858000"/>
          </a:xfrm>
          <a:prstGeom prst="rect">
            <a:avLst/>
          </a:prstGeom>
        </p:spPr>
      </p:pic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F68C40CC-6FA7-CAF4-206C-58C07F507B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01012" y="3667125"/>
            <a:ext cx="1704975" cy="2000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967D0BE1-9994-DA9A-45A9-61F4FB4D8FEF}"/>
              </a:ext>
            </a:extLst>
          </p:cNvPr>
          <p:cNvSpPr txBox="1"/>
          <p:nvPr/>
        </p:nvSpPr>
        <p:spPr>
          <a:xfrm>
            <a:off x="458648" y="215578"/>
            <a:ext cx="8130181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AI Chatbot</a:t>
            </a:r>
            <a:r>
              <a:rPr lang="en-US" sz="3200" b="1" i="0" u="none" dirty="0">
                <a:solidFill>
                  <a:srgbClr val="0F172A"/>
                </a:solidFill>
                <a:latin typeface="Plus Jakarta Sans"/>
              </a:rPr>
              <a:t> - </a:t>
            </a:r>
            <a:r>
              <a:rPr lang="en-US" sz="3200" b="1" dirty="0">
                <a:solidFill>
                  <a:srgbClr val="0F172A"/>
                </a:solidFill>
                <a:latin typeface="Plus Jakarta Sans"/>
              </a:rPr>
              <a:t>(</a:t>
            </a:r>
            <a:r>
              <a:rPr lang="en-US" sz="3200" b="1" dirty="0" err="1">
                <a:solidFill>
                  <a:srgbClr val="0F172A"/>
                </a:solidFill>
                <a:latin typeface="Plus Jakarta Sans"/>
              </a:rPr>
              <a:t>BiblioBot</a:t>
            </a:r>
            <a:r>
              <a:rPr lang="en-US" sz="3200" b="1" dirty="0">
                <a:solidFill>
                  <a:srgbClr val="0F172A"/>
                </a:solidFill>
                <a:latin typeface="Plus Jakarta Sans"/>
              </a:rPr>
              <a:t>) </a:t>
            </a:r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Architecture &amp; Logic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6D73C29-BD70-A235-688A-C66AF88EF87D}"/>
              </a:ext>
            </a:extLst>
          </p:cNvPr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9C5122C-6837-26E7-BF46-D830C58AE6B3}"/>
              </a:ext>
            </a:extLst>
          </p:cNvPr>
          <p:cNvGrpSpPr/>
          <p:nvPr/>
        </p:nvGrpSpPr>
        <p:grpSpPr>
          <a:xfrm>
            <a:off x="495300" y="1306506"/>
            <a:ext cx="5486400" cy="4848224"/>
            <a:chOff x="495300" y="1288578"/>
            <a:chExt cx="5486400" cy="4848224"/>
          </a:xfrm>
        </p:grpSpPr>
        <p:pic>
          <p:nvPicPr>
            <p:cNvPr id="3" name="Picture 2" descr="image.png">
              <a:extLst>
                <a:ext uri="{FF2B5EF4-FFF2-40B4-BE49-F238E27FC236}">
                  <a16:creationId xmlns:a16="http://schemas.microsoft.com/office/drawing/2014/main" id="{6A198E3E-22D1-EB4C-5DBD-B31D6CDBD02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5300" y="1288578"/>
              <a:ext cx="5486400" cy="4848224"/>
            </a:xfrm>
            <a:prstGeom prst="rect">
              <a:avLst/>
            </a:prstGeom>
          </p:spPr>
        </p:pic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531FC373-B8EF-AE12-22D1-AC54F7CD5276}"/>
                </a:ext>
              </a:extLst>
            </p:cNvPr>
            <p:cNvGrpSpPr/>
            <p:nvPr/>
          </p:nvGrpSpPr>
          <p:grpSpPr>
            <a:xfrm>
              <a:off x="710639" y="5218241"/>
              <a:ext cx="5013695" cy="715964"/>
              <a:chOff x="752475" y="5176837"/>
              <a:chExt cx="5013695" cy="715964"/>
            </a:xfrm>
          </p:grpSpPr>
          <p:pic>
            <p:nvPicPr>
              <p:cNvPr id="5" name="Picture 4" descr="image.png">
                <a:extLst>
                  <a:ext uri="{FF2B5EF4-FFF2-40B4-BE49-F238E27FC236}">
                    <a16:creationId xmlns:a16="http://schemas.microsoft.com/office/drawing/2014/main" id="{E3DFE758-A024-45C1-85E7-4542B630FE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52475" y="5176837"/>
                <a:ext cx="4972050" cy="715964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25CB677-346B-FCF8-2A8F-6FA997899C34}"/>
                  </a:ext>
                </a:extLst>
              </p:cNvPr>
              <p:cNvSpPr txBox="1"/>
              <p:nvPr/>
            </p:nvSpPr>
            <p:spPr>
              <a:xfrm>
                <a:off x="914400" y="5310003"/>
                <a:ext cx="4648200" cy="2308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500" b="1" i="0" u="none" dirty="0">
                    <a:solidFill>
                      <a:srgbClr val="BE123C"/>
                    </a:solidFill>
                    <a:latin typeface="Plus Jakarta Sans"/>
                  </a:rPr>
                  <a:t>EXACT FALLBACK RULE (OFF-TOPIC):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1B8574E-8BD5-09F3-1B2F-24C287498181}"/>
                  </a:ext>
                </a:extLst>
              </p:cNvPr>
              <p:cNvSpPr txBox="1"/>
              <p:nvPr/>
            </p:nvSpPr>
            <p:spPr>
              <a:xfrm>
                <a:off x="914400" y="5538787"/>
                <a:ext cx="4851770" cy="230832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sz="1500" b="1" i="1" u="none" dirty="0">
                    <a:solidFill>
                      <a:srgbClr val="9F1239"/>
                    </a:solidFill>
                    <a:latin typeface="Plus Jakarta Sans"/>
                  </a:rPr>
                  <a:t>"Sorry, I can only answer library-related questions."</a:t>
                </a: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0211F94-1D35-1AE2-3835-31F6AF8CA741}"/>
                </a:ext>
              </a:extLst>
            </p:cNvPr>
            <p:cNvSpPr txBox="1"/>
            <p:nvPr/>
          </p:nvSpPr>
          <p:spPr>
            <a:xfrm>
              <a:off x="721476" y="1635501"/>
              <a:ext cx="4686300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1" i="0" u="none" dirty="0">
                  <a:solidFill>
                    <a:srgbClr val="000000"/>
                  </a:solidFill>
                  <a:latin typeface="Plus Jakarta Sans"/>
                </a:rPr>
                <a:t>AI Assistant Execution Flow</a:t>
              </a:r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F637A5F-49ED-FB62-14AA-DE3F2DEE3D5C}"/>
                </a:ext>
              </a:extLst>
            </p:cNvPr>
            <p:cNvGrpSpPr/>
            <p:nvPr/>
          </p:nvGrpSpPr>
          <p:grpSpPr>
            <a:xfrm>
              <a:off x="733051" y="2195528"/>
              <a:ext cx="4953000" cy="553998"/>
              <a:chOff x="771525" y="2071687"/>
              <a:chExt cx="4953000" cy="553998"/>
            </a:xfrm>
          </p:grpSpPr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C8DD5AA-54E3-3634-84CA-869345457153}"/>
                  </a:ext>
                </a:extLst>
              </p:cNvPr>
              <p:cNvSpPr txBox="1"/>
              <p:nvPr/>
            </p:nvSpPr>
            <p:spPr>
              <a:xfrm>
                <a:off x="1000125" y="2071687"/>
                <a:ext cx="472440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Intent Verification: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Checks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if user query is library-related.</a:t>
                </a:r>
              </a:p>
            </p:txBody>
          </p:sp>
          <p:pic>
            <p:nvPicPr>
              <p:cNvPr id="18" name="Picture 17" descr="image.png">
                <a:extLst>
                  <a:ext uri="{FF2B5EF4-FFF2-40B4-BE49-F238E27FC236}">
                    <a16:creationId xmlns:a16="http://schemas.microsoft.com/office/drawing/2014/main" id="{33D96B12-F5D7-779A-2536-E185D09FDB0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2139667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7C4EF79-2F98-8951-83AC-1BAB32668334}"/>
                </a:ext>
              </a:extLst>
            </p:cNvPr>
            <p:cNvGrpSpPr/>
            <p:nvPr/>
          </p:nvGrpSpPr>
          <p:grpSpPr>
            <a:xfrm>
              <a:off x="733051" y="2911628"/>
              <a:ext cx="4953000" cy="553998"/>
              <a:chOff x="771525" y="2650331"/>
              <a:chExt cx="4953000" cy="553998"/>
            </a:xfrm>
          </p:grpSpPr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299DF32-C41A-07E3-D621-FC036D55539A}"/>
                  </a:ext>
                </a:extLst>
              </p:cNvPr>
              <p:cNvSpPr txBox="1"/>
              <p:nvPr/>
            </p:nvSpPr>
            <p:spPr>
              <a:xfrm>
                <a:off x="1000125" y="2650331"/>
                <a:ext cx="472440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lang="en-US" b="1" i="0" u="none" dirty="0">
                    <a:solidFill>
                      <a:srgbClr val="0F172A"/>
                    </a:solidFill>
                    <a:latin typeface="Plus Jakarta Sans"/>
                  </a:rPr>
                  <a:t>Student Context: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 Verifies the user and gets their dues/loans.</a:t>
                </a:r>
                <a:endParaRPr b="0" i="0" u="none" dirty="0">
                  <a:solidFill>
                    <a:srgbClr val="334155"/>
                  </a:solidFill>
                  <a:latin typeface="Plus Jakarta Sans"/>
                </a:endParaRPr>
              </a:p>
            </p:txBody>
          </p:sp>
          <p:pic>
            <p:nvPicPr>
              <p:cNvPr id="19" name="Picture 18" descr="image.png">
                <a:extLst>
                  <a:ext uri="{FF2B5EF4-FFF2-40B4-BE49-F238E27FC236}">
                    <a16:creationId xmlns:a16="http://schemas.microsoft.com/office/drawing/2014/main" id="{B5556F45-EB22-5737-B2D2-10F06BE1A52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2688431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DD0C9427-9660-71F5-BB7C-82C314923913}"/>
                </a:ext>
              </a:extLst>
            </p:cNvPr>
            <p:cNvGrpSpPr/>
            <p:nvPr/>
          </p:nvGrpSpPr>
          <p:grpSpPr>
            <a:xfrm>
              <a:off x="733051" y="3621746"/>
              <a:ext cx="4953000" cy="553998"/>
              <a:chOff x="771525" y="3228975"/>
              <a:chExt cx="4953000" cy="553998"/>
            </a:xfrm>
          </p:grpSpPr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ADBDE1F-4F1D-A6D4-EA9B-20D35556A9D0}"/>
                  </a:ext>
                </a:extLst>
              </p:cNvPr>
              <p:cNvSpPr txBox="1"/>
              <p:nvPr/>
            </p:nvSpPr>
            <p:spPr>
              <a:xfrm>
                <a:off x="1000125" y="3228975"/>
                <a:ext cx="472440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Book Recommendations: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Uses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Google Books API 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to suggest top 3 books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20" name="Picture 19" descr="image.png">
                <a:extLst>
                  <a:ext uri="{FF2B5EF4-FFF2-40B4-BE49-F238E27FC236}">
                    <a16:creationId xmlns:a16="http://schemas.microsoft.com/office/drawing/2014/main" id="{95858B5C-FE86-FB0D-E476-7EA1FCCD989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3296955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B9CD7B05-E811-A0B8-B63A-76434B1F494A}"/>
                </a:ext>
              </a:extLst>
            </p:cNvPr>
            <p:cNvGrpSpPr/>
            <p:nvPr/>
          </p:nvGrpSpPr>
          <p:grpSpPr>
            <a:xfrm>
              <a:off x="733051" y="4349797"/>
              <a:ext cx="4953000" cy="553998"/>
              <a:chOff x="771525" y="3807618"/>
              <a:chExt cx="4953000" cy="553998"/>
            </a:xfrm>
          </p:grpSpPr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5BCA9E6-9255-D18D-1792-0CA217E3E09B}"/>
                  </a:ext>
                </a:extLst>
              </p:cNvPr>
              <p:cNvSpPr txBox="1"/>
              <p:nvPr/>
            </p:nvSpPr>
            <p:spPr>
              <a:xfrm>
                <a:off x="1000125" y="3807618"/>
                <a:ext cx="472440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/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Dynamic Output: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Uses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current information to 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give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the answer.</a:t>
                </a:r>
                <a:endParaRPr b="0" i="0" u="none" dirty="0">
                  <a:solidFill>
                    <a:srgbClr val="334155"/>
                  </a:solidFill>
                  <a:latin typeface="Plus Jakarta Sans"/>
                </a:endParaRPr>
              </a:p>
            </p:txBody>
          </p:sp>
          <p:pic>
            <p:nvPicPr>
              <p:cNvPr id="21" name="Picture 20" descr="image.png">
                <a:extLst>
                  <a:ext uri="{FF2B5EF4-FFF2-40B4-BE49-F238E27FC236}">
                    <a16:creationId xmlns:a16="http://schemas.microsoft.com/office/drawing/2014/main" id="{5F95AFDC-A042-4246-5F2F-CA531C8C437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3875598"/>
                <a:ext cx="104775" cy="133350"/>
              </a:xfrm>
              <a:prstGeom prst="rect">
                <a:avLst/>
              </a:prstGeom>
            </p:spPr>
          </p:pic>
        </p:grp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C4D0EBAC-A8C0-023D-5894-196CD5DED3C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14967" y="983048"/>
            <a:ext cx="5486400" cy="5551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8209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52" y="5976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266825"/>
            <a:ext cx="5486400" cy="478631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86712" y="3667125"/>
            <a:ext cx="1933575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96824" y="268808"/>
            <a:ext cx="7187319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Design Details: Database Schema (ERD)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B0DECE1A-D1F1-3E8C-7864-C497D14ACFBB}"/>
              </a:ext>
            </a:extLst>
          </p:cNvPr>
          <p:cNvGrpSpPr/>
          <p:nvPr/>
        </p:nvGrpSpPr>
        <p:grpSpPr>
          <a:xfrm>
            <a:off x="363822" y="1266825"/>
            <a:ext cx="5486400" cy="4786312"/>
            <a:chOff x="495300" y="1266825"/>
            <a:chExt cx="5486400" cy="4786312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5300" y="1266825"/>
              <a:ext cx="5486400" cy="4786312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45377" y="1645567"/>
              <a:ext cx="4686300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000000"/>
                  </a:solidFill>
                  <a:latin typeface="Plus Jakarta Sans"/>
                </a:rPr>
                <a:t>D</a:t>
              </a:r>
              <a:r>
                <a:rPr lang="en-US" sz="2000" b="1" i="0" u="none" dirty="0">
                  <a:solidFill>
                    <a:srgbClr val="000000"/>
                  </a:solidFill>
                  <a:latin typeface="Plus Jakarta Sans"/>
                </a:rPr>
                <a:t>atabase</a:t>
              </a:r>
              <a:r>
                <a:rPr sz="2000" b="1" i="0" u="none" dirty="0">
                  <a:solidFill>
                    <a:srgbClr val="000000"/>
                  </a:solidFill>
                  <a:latin typeface="Plus Jakarta Sans"/>
                </a:rPr>
                <a:t> Schema In MongoDB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0D400B9D-212E-B6F7-AD67-392575C0A987}"/>
                </a:ext>
              </a:extLst>
            </p:cNvPr>
            <p:cNvGrpSpPr/>
            <p:nvPr/>
          </p:nvGrpSpPr>
          <p:grpSpPr>
            <a:xfrm>
              <a:off x="771525" y="2320810"/>
              <a:ext cx="4953000" cy="483393"/>
              <a:chOff x="771525" y="2553890"/>
              <a:chExt cx="4953000" cy="483393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1000125" y="2553890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Users &amp; Roles: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Stores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student and admin profiles with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protected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passwords.</a:t>
                </a:r>
              </a:p>
            </p:txBody>
          </p:sp>
          <p:pic>
            <p:nvPicPr>
              <p:cNvPr id="16" name="Picture 15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525" y="2609918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5F4D5089-7C5D-2255-462E-145CC833964E}"/>
                </a:ext>
              </a:extLst>
            </p:cNvPr>
            <p:cNvGrpSpPr/>
            <p:nvPr/>
          </p:nvGrpSpPr>
          <p:grpSpPr>
            <a:xfrm>
              <a:off x="771525" y="3030936"/>
              <a:ext cx="4953000" cy="483393"/>
              <a:chOff x="771525" y="3132534"/>
              <a:chExt cx="4953000" cy="483393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000125" y="3132534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Books &amp; Copies: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Tracks total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&amp;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currently available copies.</a:t>
                </a:r>
              </a:p>
            </p:txBody>
          </p:sp>
          <p:pic>
            <p:nvPicPr>
              <p:cNvPr id="17" name="Picture 16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525" y="3188562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519DCF7-663D-850D-A5C4-E82B49C018B6}"/>
                </a:ext>
              </a:extLst>
            </p:cNvPr>
            <p:cNvGrpSpPr/>
            <p:nvPr/>
          </p:nvGrpSpPr>
          <p:grpSpPr>
            <a:xfrm>
              <a:off x="771525" y="3753011"/>
              <a:ext cx="4953000" cy="483393"/>
              <a:chOff x="771525" y="3711178"/>
              <a:chExt cx="4953000" cy="483393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1000125" y="3711178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Transactions (1:M):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Connects students with book issue and return dates.</a:t>
                </a:r>
              </a:p>
            </p:txBody>
          </p:sp>
          <p:pic>
            <p:nvPicPr>
              <p:cNvPr id="18" name="Picture 17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525" y="3767206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8859C963-97FD-0411-8E22-AAB91FB1580B}"/>
                </a:ext>
              </a:extLst>
            </p:cNvPr>
            <p:cNvGrpSpPr/>
            <p:nvPr/>
          </p:nvGrpSpPr>
          <p:grpSpPr>
            <a:xfrm>
              <a:off x="771525" y="4457159"/>
              <a:ext cx="4953000" cy="487313"/>
              <a:chOff x="771525" y="4289821"/>
              <a:chExt cx="4953000" cy="487313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1000125" y="4289821"/>
                <a:ext cx="4724400" cy="48731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Fine &amp; Challan (1:1):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Connects fines with overdue book transactions.</a:t>
                </a:r>
                <a:endParaRPr b="0" i="0" u="none" dirty="0">
                  <a:solidFill>
                    <a:srgbClr val="334155"/>
                  </a:solidFill>
                  <a:latin typeface="Plus Jakarta Sans"/>
                </a:endParaRPr>
              </a:p>
            </p:txBody>
          </p:sp>
          <p:pic>
            <p:nvPicPr>
              <p:cNvPr id="19" name="Picture 18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525" y="4345849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5C6457B-7B02-3481-B6CD-F702F67C9356}"/>
                </a:ext>
              </a:extLst>
            </p:cNvPr>
            <p:cNvGrpSpPr/>
            <p:nvPr/>
          </p:nvGrpSpPr>
          <p:grpSpPr>
            <a:xfrm>
              <a:off x="771525" y="5149362"/>
              <a:ext cx="4953000" cy="483393"/>
              <a:chOff x="771525" y="4868465"/>
              <a:chExt cx="4953000" cy="483393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1000125" y="4868465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Reservations &amp; Requests: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Manages waiting queues and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new book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requests.</a:t>
                </a:r>
              </a:p>
            </p:txBody>
          </p:sp>
          <p:pic>
            <p:nvPicPr>
              <p:cNvPr id="20" name="Picture 19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525" y="4924493"/>
                <a:ext cx="104775" cy="133350"/>
              </a:xfrm>
              <a:prstGeom prst="rect">
                <a:avLst/>
              </a:prstGeom>
            </p:spPr>
          </p:pic>
        </p:grp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96400338-440E-A5C8-1D74-525DEA8CF004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2120" r="3557"/>
          <a:stretch>
            <a:fillRect/>
          </a:stretch>
        </p:blipFill>
        <p:spPr>
          <a:xfrm>
            <a:off x="5964524" y="1065883"/>
            <a:ext cx="6012325" cy="52427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6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0300" y="1275229"/>
            <a:ext cx="5486400" cy="4777908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39050" y="3667125"/>
            <a:ext cx="262890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13446" y="288540"/>
            <a:ext cx="7397803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Design Details: Book Issuance Workflow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94BACC1-6C24-36E7-76A6-83AE33AF1499}"/>
              </a:ext>
            </a:extLst>
          </p:cNvPr>
          <p:cNvGrpSpPr/>
          <p:nvPr/>
        </p:nvGrpSpPr>
        <p:grpSpPr>
          <a:xfrm>
            <a:off x="417610" y="1370849"/>
            <a:ext cx="5486400" cy="4777908"/>
            <a:chOff x="495300" y="1275229"/>
            <a:chExt cx="5486400" cy="4777908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5300" y="1275229"/>
              <a:ext cx="5486400" cy="4777908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63311" y="1603731"/>
              <a:ext cx="4686300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1" i="0" u="none" dirty="0">
                  <a:solidFill>
                    <a:srgbClr val="000000"/>
                  </a:solidFill>
                  <a:latin typeface="Plus Jakarta Sans"/>
                </a:rPr>
                <a:t>Issuance Sequence Logic</a:t>
              </a:r>
            </a:p>
          </p:txBody>
        </p: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18D240AF-4E11-3238-3798-75DCC9FA27E9}"/>
                </a:ext>
              </a:extLst>
            </p:cNvPr>
            <p:cNvGrpSpPr/>
            <p:nvPr/>
          </p:nvGrpSpPr>
          <p:grpSpPr>
            <a:xfrm>
              <a:off x="771525" y="2284954"/>
              <a:ext cx="4953000" cy="487313"/>
              <a:chOff x="771525" y="2553890"/>
              <a:chExt cx="4953000" cy="487313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1000125" y="2553890"/>
                <a:ext cx="4724400" cy="48731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Step 1 (Request):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Student requests a book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through website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16" name="Picture 15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2621870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7C98711-2BC4-E8D3-64F8-0DF6F97A42B6}"/>
                </a:ext>
              </a:extLst>
            </p:cNvPr>
            <p:cNvGrpSpPr/>
            <p:nvPr/>
          </p:nvGrpSpPr>
          <p:grpSpPr>
            <a:xfrm>
              <a:off x="771525" y="3013008"/>
              <a:ext cx="4953000" cy="483393"/>
              <a:chOff x="771525" y="3132534"/>
              <a:chExt cx="4953000" cy="483393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000125" y="3132534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Step 2 (Availability Check):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System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checks available copies in 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d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atabase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17" name="Picture 16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3200514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4346BA5-42F2-19C0-7E27-BEA27982AEEA}"/>
                </a:ext>
              </a:extLst>
            </p:cNvPr>
            <p:cNvGrpSpPr/>
            <p:nvPr/>
          </p:nvGrpSpPr>
          <p:grpSpPr>
            <a:xfrm>
              <a:off x="771525" y="3711178"/>
              <a:ext cx="4953000" cy="483393"/>
              <a:chOff x="771525" y="3711178"/>
              <a:chExt cx="4953000" cy="483393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1000125" y="3711178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lang="en-US" b="1" i="0" u="none" dirty="0">
                    <a:solidFill>
                      <a:srgbClr val="0F172A"/>
                    </a:solidFill>
                    <a:latin typeface="Plus Jakarta Sans"/>
                  </a:rPr>
                  <a:t>Book </a:t>
                </a: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Available: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Creates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issuance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record,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update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stock, sends email.</a:t>
                </a:r>
              </a:p>
            </p:txBody>
          </p:sp>
          <p:pic>
            <p:nvPicPr>
              <p:cNvPr id="18" name="Picture 17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3779158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A1AE74A2-5B6C-8FE3-D364-439E2FC360DF}"/>
                </a:ext>
              </a:extLst>
            </p:cNvPr>
            <p:cNvGrpSpPr/>
            <p:nvPr/>
          </p:nvGrpSpPr>
          <p:grpSpPr>
            <a:xfrm>
              <a:off x="771525" y="4391423"/>
              <a:ext cx="4953000" cy="553998"/>
              <a:chOff x="771525" y="4289821"/>
              <a:chExt cx="4953000" cy="553998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1000125" y="4289821"/>
                <a:ext cx="4724400" cy="553998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en-US" b="1" dirty="0">
                    <a:solidFill>
                      <a:srgbClr val="0F172A"/>
                    </a:solidFill>
                    <a:latin typeface="Plus Jakarta Sans"/>
                  </a:rPr>
                  <a:t>Unavailable Book Reservation</a:t>
                </a: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If 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unavailable, the b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ook is marked as reserved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19" name="Picture 18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4357801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B3AB4E7-C015-F7BD-788D-6B2BB6CA9689}"/>
                </a:ext>
              </a:extLst>
            </p:cNvPr>
            <p:cNvGrpSpPr/>
            <p:nvPr/>
          </p:nvGrpSpPr>
          <p:grpSpPr>
            <a:xfrm>
              <a:off x="777501" y="5179241"/>
              <a:ext cx="4953000" cy="483393"/>
              <a:chOff x="771525" y="4868465"/>
              <a:chExt cx="4953000" cy="483393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1000125" y="4868465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Confirmation: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Student receives confirmation and dashboard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shows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the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borrowed book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20" name="Picture 19" descr="image.png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71525" y="4936445"/>
                <a:ext cx="104775" cy="133350"/>
              </a:xfrm>
              <a:prstGeom prst="rect">
                <a:avLst/>
              </a:prstGeom>
            </p:spPr>
          </p:pic>
        </p:grp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407513D0-5D2E-CEBB-D213-2850E949B1DF}"/>
              </a:ext>
            </a:extLst>
          </p:cNvPr>
          <p:cNvGrpSpPr/>
          <p:nvPr/>
        </p:nvGrpSpPr>
        <p:grpSpPr>
          <a:xfrm>
            <a:off x="6009906" y="996667"/>
            <a:ext cx="6111517" cy="5540939"/>
            <a:chOff x="6009906" y="996667"/>
            <a:chExt cx="6111517" cy="5540939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1D60DEBA-8B2C-615A-2554-F0EE53172164}"/>
                </a:ext>
              </a:extLst>
            </p:cNvPr>
            <p:cNvGrpSpPr/>
            <p:nvPr/>
          </p:nvGrpSpPr>
          <p:grpSpPr>
            <a:xfrm>
              <a:off x="6009906" y="996667"/>
              <a:ext cx="6111517" cy="5540939"/>
              <a:chOff x="6009906" y="996667"/>
              <a:chExt cx="6111517" cy="5540939"/>
            </a:xfrm>
          </p:grpSpPr>
          <p:pic>
            <p:nvPicPr>
              <p:cNvPr id="30" name="Picture 29">
                <a:extLst>
                  <a:ext uri="{FF2B5EF4-FFF2-40B4-BE49-F238E27FC236}">
                    <a16:creationId xmlns:a16="http://schemas.microsoft.com/office/drawing/2014/main" id="{42486603-FE05-E071-AFFA-BE38BDB20E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009906" y="996667"/>
                <a:ext cx="6111517" cy="5540939"/>
              </a:xfrm>
              <a:prstGeom prst="rect">
                <a:avLst/>
              </a:prstGeom>
            </p:spPr>
          </p:pic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11604DF-00E5-CC49-106C-7FAD3A687844}"/>
                  </a:ext>
                </a:extLst>
              </p:cNvPr>
              <p:cNvSpPr/>
              <p:nvPr/>
            </p:nvSpPr>
            <p:spPr>
              <a:xfrm>
                <a:off x="9406967" y="996667"/>
                <a:ext cx="1607670" cy="2785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</p:grp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B107E70-6FCE-0CB8-4621-72FDECE12A03}"/>
                </a:ext>
              </a:extLst>
            </p:cNvPr>
            <p:cNvSpPr/>
            <p:nvPr/>
          </p:nvSpPr>
          <p:spPr>
            <a:xfrm>
              <a:off x="7111999" y="1037878"/>
              <a:ext cx="608389" cy="21942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0300" y="1259805"/>
            <a:ext cx="5486400" cy="4793332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575" y="3667125"/>
            <a:ext cx="2609850" cy="20002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9629" y="296703"/>
            <a:ext cx="8480903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System Architecture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C761D93-EC62-9FC8-1BBD-E3FDFC08F39C}"/>
              </a:ext>
            </a:extLst>
          </p:cNvPr>
          <p:cNvGrpSpPr/>
          <p:nvPr/>
        </p:nvGrpSpPr>
        <p:grpSpPr>
          <a:xfrm>
            <a:off x="459444" y="1343474"/>
            <a:ext cx="5486400" cy="4811260"/>
            <a:chOff x="495300" y="1259805"/>
            <a:chExt cx="5486400" cy="4811260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495300" y="1259805"/>
              <a:ext cx="5486400" cy="481126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750048" y="1579835"/>
              <a:ext cx="4657725" cy="307777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spAutoFit/>
            </a:bodyPr>
            <a:lstStyle/>
            <a:p>
              <a:pPr algn="l"/>
              <a:r>
                <a:rPr sz="2000" b="1" i="0" u="none" dirty="0">
                  <a:solidFill>
                    <a:srgbClr val="000000"/>
                  </a:solidFill>
                  <a:latin typeface="Plus Jakarta Sans"/>
                </a:rPr>
                <a:t>Architectural Layers</a:t>
              </a: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ED23128-F53D-D886-A58C-77CFDD477C6E}"/>
                </a:ext>
              </a:extLst>
            </p:cNvPr>
            <p:cNvGrpSpPr/>
            <p:nvPr/>
          </p:nvGrpSpPr>
          <p:grpSpPr>
            <a:xfrm>
              <a:off x="771525" y="2332766"/>
              <a:ext cx="4953000" cy="487313"/>
              <a:chOff x="771525" y="2553890"/>
              <a:chExt cx="4953000" cy="487313"/>
            </a:xfrm>
          </p:grpSpPr>
          <p:sp>
            <p:nvSpPr>
              <p:cNvPr id="9" name="TextBox 8"/>
              <p:cNvSpPr txBox="1"/>
              <p:nvPr/>
            </p:nvSpPr>
            <p:spPr>
              <a:xfrm>
                <a:off x="1000125" y="2553890"/>
                <a:ext cx="4724400" cy="48731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Frontend Layer: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React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-based website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with responsive portals.</a:t>
                </a:r>
              </a:p>
            </p:txBody>
          </p:sp>
          <p:pic>
            <p:nvPicPr>
              <p:cNvPr id="16" name="Picture 15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525" y="2615894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B51A576B-7C93-429E-8CAA-117AB7696A31}"/>
                </a:ext>
              </a:extLst>
            </p:cNvPr>
            <p:cNvGrpSpPr/>
            <p:nvPr/>
          </p:nvGrpSpPr>
          <p:grpSpPr>
            <a:xfrm>
              <a:off x="771525" y="3036918"/>
              <a:ext cx="4953000" cy="483393"/>
              <a:chOff x="771525" y="3132534"/>
              <a:chExt cx="4953000" cy="483393"/>
            </a:xfrm>
          </p:grpSpPr>
          <p:sp>
            <p:nvSpPr>
              <p:cNvPr id="10" name="TextBox 9"/>
              <p:cNvSpPr txBox="1"/>
              <p:nvPr/>
            </p:nvSpPr>
            <p:spPr>
              <a:xfrm>
                <a:off x="1000125" y="3132534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Web &amp; App Server: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Node.js &amp; Express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handle the main system operations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17" name="Picture 16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525" y="3194538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3E0CC84-8066-9EC8-5BC1-069257DFF091}"/>
                </a:ext>
              </a:extLst>
            </p:cNvPr>
            <p:cNvGrpSpPr/>
            <p:nvPr/>
          </p:nvGrpSpPr>
          <p:grpSpPr>
            <a:xfrm>
              <a:off x="771525" y="3747040"/>
              <a:ext cx="4953000" cy="483393"/>
              <a:chOff x="771525" y="3711178"/>
              <a:chExt cx="4953000" cy="483393"/>
            </a:xfrm>
          </p:grpSpPr>
          <p:sp>
            <p:nvSpPr>
              <p:cNvPr id="11" name="TextBox 10"/>
              <p:cNvSpPr txBox="1"/>
              <p:nvPr/>
            </p:nvSpPr>
            <p:spPr>
              <a:xfrm>
                <a:off x="1000125" y="3711178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Core Modules: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Book, User, Digital Library, Fine, and Email services.</a:t>
                </a:r>
              </a:p>
            </p:txBody>
          </p:sp>
          <p:pic>
            <p:nvPicPr>
              <p:cNvPr id="18" name="Picture 17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525" y="3773182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26C8B37B-CFE5-425E-F814-03C855DB7FCE}"/>
                </a:ext>
              </a:extLst>
            </p:cNvPr>
            <p:cNvGrpSpPr/>
            <p:nvPr/>
          </p:nvGrpSpPr>
          <p:grpSpPr>
            <a:xfrm>
              <a:off x="771525" y="4451188"/>
              <a:ext cx="4953000" cy="487313"/>
              <a:chOff x="771525" y="4289821"/>
              <a:chExt cx="4953000" cy="487313"/>
            </a:xfrm>
          </p:grpSpPr>
          <p:sp>
            <p:nvSpPr>
              <p:cNvPr id="12" name="TextBox 11"/>
              <p:cNvSpPr txBox="1"/>
              <p:nvPr/>
            </p:nvSpPr>
            <p:spPr>
              <a:xfrm>
                <a:off x="1000125" y="4289821"/>
                <a:ext cx="4724400" cy="48731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Data Layer: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MongoDB database</a:t>
                </a:r>
                <a:r>
                  <a:rPr lang="en-US" dirty="0">
                    <a:solidFill>
                      <a:srgbClr val="334155"/>
                    </a:solidFill>
                    <a:latin typeface="Plus Jakarta Sans"/>
                  </a:rPr>
                  <a:t> stores the system </a:t>
                </a:r>
                <a:r>
                  <a:rPr lang="en-US" b="0" i="0" u="none" dirty="0">
                    <a:solidFill>
                      <a:srgbClr val="334155"/>
                    </a:solidFill>
                    <a:latin typeface="Plus Jakarta Sans"/>
                  </a:rPr>
                  <a:t>data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.</a:t>
                </a:r>
              </a:p>
            </p:txBody>
          </p:sp>
          <p:pic>
            <p:nvPicPr>
              <p:cNvPr id="19" name="Picture 18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525" y="4351825"/>
                <a:ext cx="104775" cy="133350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396F425-F7CA-B096-8F8A-A124A804A1F9}"/>
                </a:ext>
              </a:extLst>
            </p:cNvPr>
            <p:cNvGrpSpPr/>
            <p:nvPr/>
          </p:nvGrpSpPr>
          <p:grpSpPr>
            <a:xfrm>
              <a:off x="771525" y="5125451"/>
              <a:ext cx="4953000" cy="483393"/>
              <a:chOff x="771525" y="4868465"/>
              <a:chExt cx="4953000" cy="483393"/>
            </a:xfrm>
          </p:grpSpPr>
          <p:sp>
            <p:nvSpPr>
              <p:cNvPr id="13" name="TextBox 12"/>
              <p:cNvSpPr txBox="1"/>
              <p:nvPr/>
            </p:nvSpPr>
            <p:spPr>
              <a:xfrm>
                <a:off x="1000125" y="4868465"/>
                <a:ext cx="4724400" cy="483393"/>
              </a:xfrm>
              <a:prstGeom prst="rect">
                <a:avLst/>
              </a:prstGeom>
              <a:noFill/>
            </p:spPr>
            <p:txBody>
              <a:bodyPr wrap="square" lIns="0" tIns="0" rIns="0" bIns="0" anchor="t">
                <a:spAutoFit/>
              </a:bodyPr>
              <a:lstStyle/>
              <a:p>
                <a:pPr algn="l">
                  <a:lnSpc>
                    <a:spcPts val="1903"/>
                  </a:lnSpc>
                </a:pPr>
                <a:r>
                  <a:rPr b="1" i="0" u="none" dirty="0">
                    <a:solidFill>
                      <a:srgbClr val="0F172A"/>
                    </a:solidFill>
                    <a:latin typeface="Plus Jakarta Sans"/>
                  </a:rPr>
                  <a:t>External Integrations: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</a:t>
                </a:r>
                <a:r>
                  <a:rPr b="0" i="0" u="none" dirty="0" err="1">
                    <a:solidFill>
                      <a:srgbClr val="334155"/>
                    </a:solidFill>
                    <a:latin typeface="Plus Jakarta Sans"/>
                  </a:rPr>
                  <a:t>NodeMailer</a:t>
                </a:r>
                <a:r>
                  <a:rPr b="0" i="0" u="none" dirty="0">
                    <a:solidFill>
                      <a:srgbClr val="334155"/>
                    </a:solidFill>
                    <a:latin typeface="Plus Jakarta Sans"/>
                  </a:rPr>
                  <a:t> (Email) &amp; 1-Bill Payment Gateway.</a:t>
                </a:r>
              </a:p>
            </p:txBody>
          </p:sp>
          <p:pic>
            <p:nvPicPr>
              <p:cNvPr id="20" name="Picture 19" descr="image.png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1525" y="4930469"/>
                <a:ext cx="104775" cy="133350"/>
              </a:xfrm>
              <a:prstGeom prst="rect">
                <a:avLst/>
              </a:prstGeom>
            </p:spPr>
          </p:pic>
        </p:grpSp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11C71F8C-899B-025A-8575-B26233A178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976233"/>
            <a:ext cx="5743388" cy="54987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3575935"/>
              </p:ext>
            </p:extLst>
          </p:nvPr>
        </p:nvGraphicFramePr>
        <p:xfrm>
          <a:off x="495300" y="1268131"/>
          <a:ext cx="11182349" cy="48482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955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137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730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808038"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Layer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Technology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000" b="1" i="0" u="none" dirty="0">
                          <a:solidFill>
                            <a:srgbClr val="0F172A"/>
                          </a:solidFill>
                          <a:latin typeface="Plus Jakarta Sans"/>
                        </a:rPr>
                        <a:t>Role in </a:t>
                      </a:r>
                      <a:r>
                        <a:rPr sz="2000" b="1" i="0" u="none" dirty="0" err="1">
                          <a:solidFill>
                            <a:srgbClr val="0F172A"/>
                          </a:solidFill>
                          <a:latin typeface="Plus Jakarta Sans"/>
                        </a:rPr>
                        <a:t>BiblioTrack</a:t>
                      </a:r>
                      <a:endParaRPr sz="2000" b="1" i="0" u="none" dirty="0">
                        <a:solidFill>
                          <a:srgbClr val="0F172A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Frontend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React.js &amp; Tailwind CSS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Responsive single-page web app with interactive UI dashboards.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algn="l"/>
                      <a:r>
                        <a:rPr sz="1800" b="1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Client-Server Communication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Axios (REST APIs)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Secure communication </a:t>
                      </a:r>
                      <a:r>
                        <a:rPr lang="en-US"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between frontend &amp; backend </a:t>
                      </a:r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using JWT</a:t>
                      </a:r>
                      <a:r>
                        <a:rPr lang="en-US"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.</a:t>
                      </a:r>
                      <a:endParaRPr sz="1800" b="0" i="0" u="none" dirty="0">
                        <a:solidFill>
                          <a:srgbClr val="334155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Backend Runtime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Node.js &amp; Express.js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Handles library operations &amp; backend requests</a:t>
                      </a:r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Database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MongoDB &amp; Mongoose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Stores and manages library data</a:t>
                      </a:r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038">
                <a:tc>
                  <a:txBody>
                    <a:bodyPr/>
                    <a:lstStyle/>
                    <a:p>
                      <a:pPr algn="l"/>
                      <a:r>
                        <a:rPr sz="1800" b="1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AI &amp; External Services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>
                          <a:solidFill>
                            <a:srgbClr val="334155"/>
                          </a:solidFill>
                          <a:latin typeface="Plus Jakarta Sans"/>
                        </a:rPr>
                        <a:t>Google Books API / NodeMailer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0" i="0" u="none" dirty="0">
                          <a:solidFill>
                            <a:srgbClr val="334155"/>
                          </a:solidFill>
                          <a:latin typeface="Plus Jakarta Sans"/>
                        </a:rPr>
                        <a:t>Smart book recommendations and automated emails.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04825" y="2035493"/>
            <a:ext cx="2795587" cy="5407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300412" y="2035493"/>
            <a:ext cx="3913733" cy="5407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214145" y="2035493"/>
            <a:ext cx="4473029" cy="54073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4825" y="3033712"/>
            <a:ext cx="279558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300412" y="3033712"/>
            <a:ext cx="391373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214145" y="3033712"/>
            <a:ext cx="447302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4825" y="3690937"/>
            <a:ext cx="279558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00412" y="3690937"/>
            <a:ext cx="391373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214145" y="3690937"/>
            <a:ext cx="447302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04825" y="4348162"/>
            <a:ext cx="279558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300412" y="4348162"/>
            <a:ext cx="391373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214145" y="4348162"/>
            <a:ext cx="447302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04825" y="5005387"/>
            <a:ext cx="2795587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300412" y="5005387"/>
            <a:ext cx="3913733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214145" y="5005387"/>
            <a:ext cx="4473029" cy="9525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92903" y="268129"/>
            <a:ext cx="8842980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Technology Stack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14:flash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1496410"/>
            <a:ext cx="5514975" cy="220572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725" y="1496410"/>
            <a:ext cx="5514975" cy="2205724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300" y="3887551"/>
            <a:ext cx="5514975" cy="208294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81725" y="3905331"/>
            <a:ext cx="5514975" cy="2065163"/>
          </a:xfrm>
          <a:prstGeom prst="rect">
            <a:avLst/>
          </a:prstGeom>
        </p:spPr>
      </p:pic>
      <p:grpSp>
        <p:nvGrpSpPr>
          <p:cNvPr id="36" name="Group 35">
            <a:extLst>
              <a:ext uri="{FF2B5EF4-FFF2-40B4-BE49-F238E27FC236}">
                <a16:creationId xmlns:a16="http://schemas.microsoft.com/office/drawing/2014/main" id="{23C972B9-117B-5DCD-50BD-CEEFE927C47C}"/>
              </a:ext>
            </a:extLst>
          </p:cNvPr>
          <p:cNvGrpSpPr/>
          <p:nvPr/>
        </p:nvGrpSpPr>
        <p:grpSpPr>
          <a:xfrm>
            <a:off x="752474" y="1759812"/>
            <a:ext cx="5000626" cy="307777"/>
            <a:chOff x="752474" y="1903242"/>
            <a:chExt cx="5000626" cy="307777"/>
          </a:xfrm>
        </p:grpSpPr>
        <p:sp>
          <p:nvSpPr>
            <p:cNvPr id="8" name="TextBox 7"/>
            <p:cNvSpPr txBox="1"/>
            <p:nvPr/>
          </p:nvSpPr>
          <p:spPr>
            <a:xfrm>
              <a:off x="752474" y="1903242"/>
              <a:ext cx="1638113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i="0" u="none" dirty="0">
                  <a:solidFill>
                    <a:srgbClr val="0F172A"/>
                  </a:solidFill>
                  <a:latin typeface="Plus Jakarta Sans"/>
                </a:rPr>
                <a:t>Unit Testing</a:t>
              </a:r>
            </a:p>
          </p:txBody>
        </p:sp>
        <p:pic>
          <p:nvPicPr>
            <p:cNvPr id="9" name="Picture 8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76825" y="1909307"/>
              <a:ext cx="676275" cy="26670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3816624-1A70-7967-2E8D-28CBD51A147F}"/>
              </a:ext>
            </a:extLst>
          </p:cNvPr>
          <p:cNvGrpSpPr/>
          <p:nvPr/>
        </p:nvGrpSpPr>
        <p:grpSpPr>
          <a:xfrm>
            <a:off x="6438899" y="1753830"/>
            <a:ext cx="5000626" cy="307777"/>
            <a:chOff x="6438899" y="2172180"/>
            <a:chExt cx="5000626" cy="307777"/>
          </a:xfrm>
        </p:grpSpPr>
        <p:sp>
          <p:nvSpPr>
            <p:cNvPr id="12" name="TextBox 11"/>
            <p:cNvSpPr txBox="1"/>
            <p:nvPr/>
          </p:nvSpPr>
          <p:spPr>
            <a:xfrm>
              <a:off x="6438899" y="2172180"/>
              <a:ext cx="2506317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i="0" u="none" dirty="0">
                  <a:solidFill>
                    <a:srgbClr val="0F172A"/>
                  </a:solidFill>
                  <a:latin typeface="Plus Jakarta Sans"/>
                </a:rPr>
                <a:t>Integration</a:t>
              </a:r>
              <a:r>
                <a:rPr lang="en-US" sz="2000" b="1" i="0" u="none" dirty="0">
                  <a:solidFill>
                    <a:srgbClr val="0F172A"/>
                  </a:solidFill>
                  <a:latin typeface="Plus Jakarta Sans"/>
                </a:rPr>
                <a:t> </a:t>
              </a:r>
              <a:r>
                <a:rPr sz="2000" b="1" i="0" u="none" dirty="0">
                  <a:solidFill>
                    <a:srgbClr val="0F172A"/>
                  </a:solidFill>
                  <a:latin typeface="Plus Jakarta Sans"/>
                </a:rPr>
                <a:t>Testing</a:t>
              </a:r>
            </a:p>
          </p:txBody>
        </p:sp>
        <p:pic>
          <p:nvPicPr>
            <p:cNvPr id="13" name="Picture 12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63250" y="2178248"/>
              <a:ext cx="676275" cy="266700"/>
            </a:xfrm>
            <a:prstGeom prst="rect">
              <a:avLst/>
            </a:prstGeom>
          </p:spPr>
        </p:pic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33B95C56-FFF6-4A7F-DAAB-FF1789EDE12D}"/>
              </a:ext>
            </a:extLst>
          </p:cNvPr>
          <p:cNvGrpSpPr/>
          <p:nvPr/>
        </p:nvGrpSpPr>
        <p:grpSpPr>
          <a:xfrm>
            <a:off x="752475" y="4142238"/>
            <a:ext cx="5000625" cy="307777"/>
            <a:chOff x="752475" y="3950998"/>
            <a:chExt cx="5000625" cy="307777"/>
          </a:xfrm>
        </p:grpSpPr>
        <p:sp>
          <p:nvSpPr>
            <p:cNvPr id="16" name="TextBox 15"/>
            <p:cNvSpPr txBox="1"/>
            <p:nvPr/>
          </p:nvSpPr>
          <p:spPr>
            <a:xfrm>
              <a:off x="752475" y="3950998"/>
              <a:ext cx="3829050" cy="307777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i="0" u="none" dirty="0">
                  <a:solidFill>
                    <a:srgbClr val="0F172A"/>
                  </a:solidFill>
                  <a:latin typeface="Plus Jakarta Sans"/>
                </a:rPr>
                <a:t>User Acceptance Testing (UAT)</a:t>
              </a:r>
            </a:p>
          </p:txBody>
        </p:sp>
        <p:pic>
          <p:nvPicPr>
            <p:cNvPr id="17" name="Picture 16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5076825" y="3951089"/>
              <a:ext cx="676275" cy="266700"/>
            </a:xfrm>
            <a:prstGeom prst="rect">
              <a:avLst/>
            </a:prstGeom>
          </p:spPr>
        </p:pic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C3FE30A-CDAC-E262-6597-9485F0655A00}"/>
              </a:ext>
            </a:extLst>
          </p:cNvPr>
          <p:cNvGrpSpPr/>
          <p:nvPr/>
        </p:nvGrpSpPr>
        <p:grpSpPr>
          <a:xfrm>
            <a:off x="6438900" y="4106478"/>
            <a:ext cx="5000625" cy="313661"/>
            <a:chOff x="6438900" y="4124406"/>
            <a:chExt cx="5000625" cy="313661"/>
          </a:xfrm>
        </p:grpSpPr>
        <p:sp>
          <p:nvSpPr>
            <p:cNvPr id="20" name="TextBox 19"/>
            <p:cNvSpPr txBox="1"/>
            <p:nvPr/>
          </p:nvSpPr>
          <p:spPr>
            <a:xfrm>
              <a:off x="6438900" y="4124406"/>
              <a:ext cx="3261691" cy="31366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/>
              <a:r>
                <a:rPr sz="2000" b="1" i="0" u="none" dirty="0">
                  <a:solidFill>
                    <a:srgbClr val="0F172A"/>
                  </a:solidFill>
                  <a:latin typeface="Plus Jakarta Sans"/>
                </a:rPr>
                <a:t>Performance &amp; AI Testing</a:t>
              </a:r>
            </a:p>
          </p:txBody>
        </p:sp>
        <p:pic>
          <p:nvPicPr>
            <p:cNvPr id="21" name="Picture 20" descr="image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763250" y="4124406"/>
              <a:ext cx="676275" cy="266700"/>
            </a:xfrm>
            <a:prstGeom prst="rect">
              <a:avLst/>
            </a:prstGeom>
          </p:spPr>
        </p:pic>
      </p:grpSp>
      <p:sp>
        <p:nvSpPr>
          <p:cNvPr id="24" name="TextBox 23"/>
          <p:cNvSpPr txBox="1"/>
          <p:nvPr/>
        </p:nvSpPr>
        <p:spPr>
          <a:xfrm>
            <a:off x="347705" y="277654"/>
            <a:ext cx="7548755" cy="49244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3200" b="1" i="0" u="none" dirty="0">
                <a:solidFill>
                  <a:srgbClr val="0F172A"/>
                </a:solidFill>
                <a:latin typeface="Plus Jakarta Sans"/>
              </a:rPr>
              <a:t> Testing &amp; Quality Assurance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5300" y="838200"/>
            <a:ext cx="1120140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7292C003-F56C-74B2-237F-B9AF0CB6D483}"/>
              </a:ext>
            </a:extLst>
          </p:cNvPr>
          <p:cNvGrpSpPr/>
          <p:nvPr/>
        </p:nvGrpSpPr>
        <p:grpSpPr>
          <a:xfrm>
            <a:off x="771525" y="2341860"/>
            <a:ext cx="4981575" cy="487313"/>
            <a:chOff x="771525" y="2521148"/>
            <a:chExt cx="4981575" cy="487313"/>
          </a:xfrm>
        </p:grpSpPr>
        <p:sp>
          <p:nvSpPr>
            <p:cNvPr id="10" name="TextBox 9"/>
            <p:cNvSpPr txBox="1"/>
            <p:nvPr/>
          </p:nvSpPr>
          <p:spPr>
            <a:xfrm>
              <a:off x="1000125" y="2521148"/>
              <a:ext cx="4752975" cy="487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Tested password hashing and JWT token expiration.</a:t>
              </a:r>
            </a:p>
          </p:txBody>
        </p:sp>
        <p:pic>
          <p:nvPicPr>
            <p:cNvPr id="26" name="Picture 25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1525" y="2583152"/>
              <a:ext cx="104775" cy="133350"/>
            </a:xfrm>
            <a:prstGeom prst="rect">
              <a:avLst/>
            </a:prstGeom>
          </p:spPr>
        </p:pic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87C0424-3710-52DD-880E-832C0563EE42}"/>
              </a:ext>
            </a:extLst>
          </p:cNvPr>
          <p:cNvGrpSpPr/>
          <p:nvPr/>
        </p:nvGrpSpPr>
        <p:grpSpPr>
          <a:xfrm>
            <a:off x="771525" y="2989579"/>
            <a:ext cx="4981575" cy="243656"/>
            <a:chOff x="771525" y="2858095"/>
            <a:chExt cx="4981575" cy="243656"/>
          </a:xfrm>
        </p:grpSpPr>
        <p:sp>
          <p:nvSpPr>
            <p:cNvPr id="11" name="TextBox 10"/>
            <p:cNvSpPr txBox="1"/>
            <p:nvPr/>
          </p:nvSpPr>
          <p:spPr>
            <a:xfrm>
              <a:off x="1000125" y="2858095"/>
              <a:ext cx="4752975" cy="2436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Verified automated fine calculation accuracy.</a:t>
              </a:r>
            </a:p>
          </p:txBody>
        </p:sp>
        <p:pic>
          <p:nvPicPr>
            <p:cNvPr id="27" name="Picture 26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1525" y="2920099"/>
              <a:ext cx="104775" cy="133350"/>
            </a:xfrm>
            <a:prstGeom prst="rect">
              <a:avLst/>
            </a:prstGeom>
          </p:spPr>
        </p:pic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E44F771-39A8-CB32-9E30-92AC3CCA5FE5}"/>
              </a:ext>
            </a:extLst>
          </p:cNvPr>
          <p:cNvGrpSpPr/>
          <p:nvPr/>
        </p:nvGrpSpPr>
        <p:grpSpPr>
          <a:xfrm>
            <a:off x="6457950" y="2305996"/>
            <a:ext cx="4981575" cy="487313"/>
            <a:chOff x="6457950" y="2521148"/>
            <a:chExt cx="4981575" cy="487313"/>
          </a:xfrm>
        </p:grpSpPr>
        <p:sp>
          <p:nvSpPr>
            <p:cNvPr id="14" name="TextBox 13"/>
            <p:cNvSpPr txBox="1"/>
            <p:nvPr/>
          </p:nvSpPr>
          <p:spPr>
            <a:xfrm>
              <a:off x="6686550" y="2521148"/>
              <a:ext cx="4752975" cy="487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Verified full API cycle between React and Express backend.</a:t>
              </a:r>
            </a:p>
          </p:txBody>
        </p:sp>
        <p:pic>
          <p:nvPicPr>
            <p:cNvPr id="28" name="Picture 27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57950" y="2583152"/>
              <a:ext cx="104775" cy="133350"/>
            </a:xfrm>
            <a:prstGeom prst="rect">
              <a:avLst/>
            </a:prstGeom>
          </p:spPr>
        </p:pic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4281271-243F-FCCF-5C59-723D7EC68C14}"/>
              </a:ext>
            </a:extLst>
          </p:cNvPr>
          <p:cNvGrpSpPr/>
          <p:nvPr/>
        </p:nvGrpSpPr>
        <p:grpSpPr>
          <a:xfrm>
            <a:off x="6457950" y="2959691"/>
            <a:ext cx="4981575" cy="483393"/>
            <a:chOff x="6457950" y="2858095"/>
            <a:chExt cx="4981575" cy="483393"/>
          </a:xfrm>
        </p:grpSpPr>
        <p:sp>
          <p:nvSpPr>
            <p:cNvPr id="15" name="TextBox 14"/>
            <p:cNvSpPr txBox="1"/>
            <p:nvPr/>
          </p:nvSpPr>
          <p:spPr>
            <a:xfrm>
              <a:off x="6686550" y="2858095"/>
              <a:ext cx="4752975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Confirmed that approved issue requests </a:t>
              </a: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reduce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book inventory.</a:t>
              </a:r>
            </a:p>
          </p:txBody>
        </p:sp>
        <p:pic>
          <p:nvPicPr>
            <p:cNvPr id="29" name="Picture 28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57950" y="2920099"/>
              <a:ext cx="104775" cy="133350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542A328A-A763-732E-AB0C-1515712A3D86}"/>
              </a:ext>
            </a:extLst>
          </p:cNvPr>
          <p:cNvGrpSpPr/>
          <p:nvPr/>
        </p:nvGrpSpPr>
        <p:grpSpPr>
          <a:xfrm>
            <a:off x="771525" y="4676483"/>
            <a:ext cx="4981575" cy="487313"/>
            <a:chOff x="771525" y="4293989"/>
            <a:chExt cx="4981575" cy="487313"/>
          </a:xfrm>
        </p:grpSpPr>
        <p:sp>
          <p:nvSpPr>
            <p:cNvPr id="18" name="TextBox 17"/>
            <p:cNvSpPr txBox="1"/>
            <p:nvPr/>
          </p:nvSpPr>
          <p:spPr>
            <a:xfrm>
              <a:off x="1000125" y="4293989"/>
              <a:ext cx="4752975" cy="487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Tested with CS department students and library staff.</a:t>
              </a:r>
            </a:p>
          </p:txBody>
        </p:sp>
        <p:pic>
          <p:nvPicPr>
            <p:cNvPr id="30" name="Picture 29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1525" y="4367945"/>
              <a:ext cx="104775" cy="133350"/>
            </a:xfrm>
            <a:prstGeom prst="rect">
              <a:avLst/>
            </a:prstGeom>
          </p:spPr>
        </p:pic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54DA03F5-1E15-ADEB-A192-115795720987}"/>
              </a:ext>
            </a:extLst>
          </p:cNvPr>
          <p:cNvGrpSpPr/>
          <p:nvPr/>
        </p:nvGrpSpPr>
        <p:grpSpPr>
          <a:xfrm>
            <a:off x="771525" y="5306271"/>
            <a:ext cx="4981575" cy="483393"/>
            <a:chOff x="771525" y="4630935"/>
            <a:chExt cx="4981575" cy="483393"/>
          </a:xfrm>
        </p:grpSpPr>
        <p:sp>
          <p:nvSpPr>
            <p:cNvPr id="19" name="TextBox 18"/>
            <p:cNvSpPr txBox="1"/>
            <p:nvPr/>
          </p:nvSpPr>
          <p:spPr>
            <a:xfrm>
              <a:off x="1000125" y="4630935"/>
              <a:ext cx="4752975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Received positive feedback for intuitive UI and fast book search.</a:t>
              </a:r>
            </a:p>
          </p:txBody>
        </p:sp>
        <p:pic>
          <p:nvPicPr>
            <p:cNvPr id="31" name="Picture 30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71525" y="4704891"/>
              <a:ext cx="104775" cy="13335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69FFFBB6-1CBE-3DCB-4046-AAD15DEB297C}"/>
              </a:ext>
            </a:extLst>
          </p:cNvPr>
          <p:cNvGrpSpPr/>
          <p:nvPr/>
        </p:nvGrpSpPr>
        <p:grpSpPr>
          <a:xfrm>
            <a:off x="6463926" y="4652576"/>
            <a:ext cx="4981575" cy="483393"/>
            <a:chOff x="6457950" y="4293989"/>
            <a:chExt cx="4981575" cy="483393"/>
          </a:xfrm>
        </p:grpSpPr>
        <p:sp>
          <p:nvSpPr>
            <p:cNvPr id="22" name="TextBox 21"/>
            <p:cNvSpPr txBox="1"/>
            <p:nvPr/>
          </p:nvSpPr>
          <p:spPr>
            <a:xfrm>
              <a:off x="6686550" y="4293989"/>
              <a:ext cx="4752975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Database response time averaged within 1.5 to 2.0 seconds.</a:t>
              </a:r>
            </a:p>
          </p:txBody>
        </p:sp>
        <p:pic>
          <p:nvPicPr>
            <p:cNvPr id="32" name="Picture 31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57950" y="4361969"/>
              <a:ext cx="104775" cy="13335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8E8200F-31F3-60E9-C1AA-D6D3319F4FA9}"/>
              </a:ext>
            </a:extLst>
          </p:cNvPr>
          <p:cNvGrpSpPr/>
          <p:nvPr/>
        </p:nvGrpSpPr>
        <p:grpSpPr>
          <a:xfrm>
            <a:off x="6457950" y="5290979"/>
            <a:ext cx="4981575" cy="483393"/>
            <a:chOff x="6457950" y="4872632"/>
            <a:chExt cx="4981575" cy="483393"/>
          </a:xfrm>
        </p:grpSpPr>
        <p:sp>
          <p:nvSpPr>
            <p:cNvPr id="23" name="TextBox 22"/>
            <p:cNvSpPr txBox="1"/>
            <p:nvPr/>
          </p:nvSpPr>
          <p:spPr>
            <a:xfrm>
              <a:off x="6686550" y="4872632"/>
              <a:ext cx="4752975" cy="48339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03"/>
                </a:lnSpc>
              </a:pP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Chatbot</a:t>
              </a: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 (</a:t>
              </a:r>
              <a:r>
                <a:rPr lang="en-US" b="0" i="0" u="none" dirty="0" err="1">
                  <a:solidFill>
                    <a:srgbClr val="334155"/>
                  </a:solidFill>
                  <a:latin typeface="Plus Jakarta Sans"/>
                </a:rPr>
                <a:t>BiblioBot</a:t>
              </a:r>
              <a:r>
                <a:rPr lang="en-US" b="0" i="0" u="none" dirty="0">
                  <a:solidFill>
                    <a:srgbClr val="334155"/>
                  </a:solidFill>
                  <a:latin typeface="Plus Jakarta Sans"/>
                </a:rPr>
                <a:t>)</a:t>
              </a:r>
              <a:r>
                <a:rPr b="0" i="0" u="none" dirty="0">
                  <a:solidFill>
                    <a:srgbClr val="334155"/>
                  </a:solidFill>
                  <a:latin typeface="Plus Jakarta Sans"/>
                </a:rPr>
                <a:t> reliably executed fallback rule on non-library queries.</a:t>
              </a:r>
            </a:p>
          </p:txBody>
        </p:sp>
        <p:pic>
          <p:nvPicPr>
            <p:cNvPr id="33" name="Picture 32" descr="image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457950" y="4940612"/>
              <a:ext cx="104775" cy="133350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7928"/>
            <a:ext cx="12192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0" y="1567457"/>
            <a:ext cx="762000" cy="76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595437" y="2519957"/>
            <a:ext cx="9001125" cy="5914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657"/>
              </a:lnSpc>
            </a:pPr>
            <a:r>
              <a:rPr sz="4050" b="0" i="0" u="none" dirty="0">
                <a:solidFill>
                  <a:srgbClr val="0F172A"/>
                </a:solidFill>
                <a:latin typeface="Plus Jakarta Sans ExtraBold"/>
              </a:rPr>
              <a:t>Live Project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9750" y="3225700"/>
            <a:ext cx="85725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 err="1">
                <a:solidFill>
                  <a:srgbClr val="2563EB"/>
                </a:solidFill>
                <a:latin typeface="Plus Jakarta Sans"/>
              </a:rPr>
              <a:t>BiblioTrack</a:t>
            </a:r>
            <a:r>
              <a:rPr b="1" i="0" u="none" dirty="0">
                <a:solidFill>
                  <a:srgbClr val="2563EB"/>
                </a:solidFill>
                <a:latin typeface="Plus Jakarta Sans"/>
              </a:rPr>
              <a:t> in Action </a:t>
            </a:r>
            <a:r>
              <a:rPr lang="en-US" b="1" dirty="0">
                <a:solidFill>
                  <a:srgbClr val="2563EB"/>
                </a:solidFill>
                <a:latin typeface="Plus Jakarta Sans"/>
              </a:rPr>
              <a:t>---</a:t>
            </a:r>
            <a:r>
              <a:rPr b="1" i="0" u="none" dirty="0">
                <a:solidFill>
                  <a:srgbClr val="2563EB"/>
                </a:solidFill>
                <a:latin typeface="Plus Jakarta Sans"/>
              </a:rPr>
              <a:t> Followed by Viva Q&amp;A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67000" y="3721000"/>
            <a:ext cx="6858000" cy="5313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092"/>
              </a:lnSpc>
            </a:pPr>
            <a:r>
              <a:rPr sz="1600" b="0" i="0" u="none" dirty="0">
                <a:solidFill>
                  <a:srgbClr val="475569"/>
                </a:solidFill>
                <a:latin typeface="Plus Jakarta Sans"/>
              </a:rPr>
              <a:t>We now invite our respected supervisor and honorable external examiner for the live system demonstration and questions.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5025" y="1786532"/>
            <a:ext cx="361950" cy="323850"/>
          </a:xfrm>
          <a:prstGeom prst="rect">
            <a:avLst/>
          </a:pr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E53C6187-1834-06FA-93DA-1F71920200F5}"/>
              </a:ext>
            </a:extLst>
          </p:cNvPr>
          <p:cNvGrpSpPr/>
          <p:nvPr/>
        </p:nvGrpSpPr>
        <p:grpSpPr>
          <a:xfrm>
            <a:off x="3677955" y="4538068"/>
            <a:ext cx="4895850" cy="1557933"/>
            <a:chOff x="3648075" y="4538067"/>
            <a:chExt cx="4895850" cy="1414246"/>
          </a:xfrm>
        </p:grpSpPr>
        <p:pic>
          <p:nvPicPr>
            <p:cNvPr id="3" name="Picture 2" descr="image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48075" y="4538067"/>
              <a:ext cx="4895850" cy="1414246"/>
            </a:xfrm>
            <a:prstGeom prst="rect">
              <a:avLst/>
            </a:prstGeom>
          </p:spPr>
        </p:pic>
        <p:sp>
          <p:nvSpPr>
            <p:cNvPr id="9" name="TextBox 8"/>
            <p:cNvSpPr txBox="1"/>
            <p:nvPr/>
          </p:nvSpPr>
          <p:spPr>
            <a:xfrm>
              <a:off x="4000500" y="4699992"/>
              <a:ext cx="4191000" cy="4924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1" i="0" u="none" dirty="0" err="1">
                  <a:solidFill>
                    <a:srgbClr val="0F172A"/>
                  </a:solidFill>
                  <a:latin typeface="Plus Jakarta Sans"/>
                </a:rPr>
                <a:t>BiblioTrack</a:t>
              </a:r>
              <a:endParaRPr lang="en-US" sz="1600" b="1" dirty="0">
                <a:solidFill>
                  <a:srgbClr val="0F172A"/>
                </a:solidFill>
                <a:latin typeface="Plus Jakarta Sans"/>
              </a:endParaRPr>
            </a:p>
            <a:p>
              <a:pPr algn="ctr"/>
              <a:r>
                <a:rPr sz="1600" b="1" i="0" u="none" dirty="0">
                  <a:solidFill>
                    <a:srgbClr val="0F172A"/>
                  </a:solidFill>
                  <a:latin typeface="Plus Jakarta Sans"/>
                </a:rPr>
                <a:t>Smart Library Management System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3970618" y="5370935"/>
              <a:ext cx="4220881" cy="49244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ctr"/>
              <a:r>
                <a:rPr sz="1600" b="0" i="0" u="none" dirty="0">
                  <a:solidFill>
                    <a:srgbClr val="64748B"/>
                  </a:solidFill>
                  <a:latin typeface="JetBrains Mono"/>
                </a:rPr>
                <a:t>Department of Computer Science </a:t>
              </a:r>
              <a:endParaRPr lang="en-US" sz="1600" dirty="0">
                <a:solidFill>
                  <a:srgbClr val="64748B"/>
                </a:solidFill>
                <a:latin typeface="JetBrains Mono"/>
              </a:endParaRPr>
            </a:p>
            <a:p>
              <a:pPr algn="ctr"/>
              <a:r>
                <a:rPr sz="1600" b="0" i="0" u="none" dirty="0">
                  <a:solidFill>
                    <a:srgbClr val="64748B"/>
                  </a:solidFill>
                  <a:latin typeface="JetBrains Mono"/>
                </a:rPr>
                <a:t>University of Peshawar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955</TotalTime>
  <Words>1176</Words>
  <Application>Microsoft Office PowerPoint</Application>
  <PresentationFormat>Widescreen</PresentationFormat>
  <Paragraphs>154</Paragraphs>
  <Slides>15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5" baseType="lpstr">
      <vt:lpstr>Arial</vt:lpstr>
      <vt:lpstr>Calibri</vt:lpstr>
      <vt:lpstr>Felix Titling</vt:lpstr>
      <vt:lpstr>Goudy Old Style</vt:lpstr>
      <vt:lpstr>JetBrains Mono</vt:lpstr>
      <vt:lpstr>Plus Jakarta Sans</vt:lpstr>
      <vt:lpstr>Plus Jakarta Sans ExtraBold</vt:lpstr>
      <vt:lpstr>Plus Jakarta Sans SemiBold</vt:lpstr>
      <vt:lpstr>Wingdings</vt:lpstr>
      <vt:lpstr>Archway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Haneef Ur Rahman</dc:creator>
  <cp:keywords/>
  <dc:description>generated using python-pptx</dc:description>
  <cp:lastModifiedBy>Haneef Ur Rahman</cp:lastModifiedBy>
  <cp:revision>23</cp:revision>
  <dcterms:created xsi:type="dcterms:W3CDTF">2013-01-27T09:14:16Z</dcterms:created>
  <dcterms:modified xsi:type="dcterms:W3CDTF">2026-10-04T07:53:13Z</dcterms:modified>
  <cp:category/>
</cp:coreProperties>
</file>