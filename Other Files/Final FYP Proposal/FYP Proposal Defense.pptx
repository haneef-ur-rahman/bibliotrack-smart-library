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2" r:id="rId9"/>
    <p:sldId id="269" r:id="rId10"/>
    <p:sldId id="264" r:id="rId11"/>
    <p:sldId id="265" r:id="rId12"/>
    <p:sldId id="266" r:id="rId13"/>
    <p:sldId id="268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8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842" autoAdjust="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26223A-9E6B-4A46-BDAA-F027CEDB38B8}" type="doc">
      <dgm:prSet loTypeId="urn:microsoft.com/office/officeart/2005/8/layout/hProcess9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515478E-B671-4FF0-97E1-536D77C1B32D}">
      <dgm:prSet/>
      <dgm:spPr/>
      <dgm:t>
        <a:bodyPr/>
        <a:lstStyle/>
        <a:p>
          <a:r>
            <a:rPr lang="en-US"/>
            <a:t>Frontend (Web Interface)</a:t>
          </a:r>
        </a:p>
      </dgm:t>
    </dgm:pt>
    <dgm:pt modelId="{32A9B4A6-A227-40EA-B0EF-C0C36F0C27D8}" type="parTrans" cxnId="{53A1FBA2-BC5C-40C1-9B2D-73AFC51D3D4A}">
      <dgm:prSet/>
      <dgm:spPr/>
      <dgm:t>
        <a:bodyPr/>
        <a:lstStyle/>
        <a:p>
          <a:endParaRPr lang="en-US"/>
        </a:p>
      </dgm:t>
    </dgm:pt>
    <dgm:pt modelId="{545C8387-4981-45BA-9336-6024BA2972F9}" type="sibTrans" cxnId="{53A1FBA2-BC5C-40C1-9B2D-73AFC51D3D4A}">
      <dgm:prSet/>
      <dgm:spPr/>
      <dgm:t>
        <a:bodyPr/>
        <a:lstStyle/>
        <a:p>
          <a:endParaRPr lang="en-US"/>
        </a:p>
      </dgm:t>
    </dgm:pt>
    <dgm:pt modelId="{F54F9F1D-C39D-48C1-A941-E78B40979EE1}">
      <dgm:prSet/>
      <dgm:spPr/>
      <dgm:t>
        <a:bodyPr/>
        <a:lstStyle/>
        <a:p>
          <a:r>
            <a:rPr lang="en-US" dirty="0"/>
            <a:t>Backend (Core System Logic)</a:t>
          </a:r>
        </a:p>
      </dgm:t>
    </dgm:pt>
    <dgm:pt modelId="{CC006787-AC9C-461C-9025-57038D7D284D}" type="parTrans" cxnId="{C9E8AA31-60DC-4CBB-805B-47399BF4A976}">
      <dgm:prSet/>
      <dgm:spPr/>
      <dgm:t>
        <a:bodyPr/>
        <a:lstStyle/>
        <a:p>
          <a:endParaRPr lang="en-US"/>
        </a:p>
      </dgm:t>
    </dgm:pt>
    <dgm:pt modelId="{FCC890DE-7397-4628-9A18-6E8CEA0339B9}" type="sibTrans" cxnId="{C9E8AA31-60DC-4CBB-805B-47399BF4A976}">
      <dgm:prSet/>
      <dgm:spPr/>
      <dgm:t>
        <a:bodyPr/>
        <a:lstStyle/>
        <a:p>
          <a:endParaRPr lang="en-US"/>
        </a:p>
      </dgm:t>
    </dgm:pt>
    <dgm:pt modelId="{FD6CCCC2-AB05-4036-8849-CD0BB3760D41}">
      <dgm:prSet/>
      <dgm:spPr/>
      <dgm:t>
        <a:bodyPr/>
        <a:lstStyle/>
        <a:p>
          <a:r>
            <a:rPr lang="en-US" dirty="0"/>
            <a:t>Database (Book &amp; Student Records)</a:t>
          </a:r>
        </a:p>
      </dgm:t>
    </dgm:pt>
    <dgm:pt modelId="{61594AB4-9E3D-456D-AEE5-A7F5E972CB14}" type="parTrans" cxnId="{1D0B84A4-A4F6-45C5-A627-743A8FF03D72}">
      <dgm:prSet/>
      <dgm:spPr/>
      <dgm:t>
        <a:bodyPr/>
        <a:lstStyle/>
        <a:p>
          <a:endParaRPr lang="en-US"/>
        </a:p>
      </dgm:t>
    </dgm:pt>
    <dgm:pt modelId="{604BA6EA-2006-4310-AD0A-24E9BB474EBF}" type="sibTrans" cxnId="{1D0B84A4-A4F6-45C5-A627-743A8FF03D72}">
      <dgm:prSet/>
      <dgm:spPr/>
      <dgm:t>
        <a:bodyPr/>
        <a:lstStyle/>
        <a:p>
          <a:endParaRPr lang="en-US"/>
        </a:p>
      </dgm:t>
    </dgm:pt>
    <dgm:pt modelId="{530C5AEF-9C29-470B-94E1-C9A29B118AB9}">
      <dgm:prSet/>
      <dgm:spPr/>
      <dgm:t>
        <a:bodyPr/>
        <a:lstStyle/>
        <a:p>
          <a:r>
            <a:rPr lang="en-US" dirty="0"/>
            <a:t>Digital Resource Storage</a:t>
          </a:r>
        </a:p>
      </dgm:t>
    </dgm:pt>
    <dgm:pt modelId="{8A3A6352-00AB-4395-94EF-A3A5DAB8137E}" type="parTrans" cxnId="{99B24EB2-F946-4057-B277-68C76CD70A07}">
      <dgm:prSet/>
      <dgm:spPr/>
      <dgm:t>
        <a:bodyPr/>
        <a:lstStyle/>
        <a:p>
          <a:endParaRPr lang="en-US"/>
        </a:p>
      </dgm:t>
    </dgm:pt>
    <dgm:pt modelId="{6AC33510-77DD-49AE-A708-E3F74D2943E6}" type="sibTrans" cxnId="{99B24EB2-F946-4057-B277-68C76CD70A07}">
      <dgm:prSet/>
      <dgm:spPr/>
      <dgm:t>
        <a:bodyPr/>
        <a:lstStyle/>
        <a:p>
          <a:endParaRPr lang="en-US"/>
        </a:p>
      </dgm:t>
    </dgm:pt>
    <dgm:pt modelId="{908C284A-C217-41DA-87BB-36E81B1F066F}">
      <dgm:prSet/>
      <dgm:spPr/>
      <dgm:t>
        <a:bodyPr/>
        <a:lstStyle/>
        <a:p>
          <a:r>
            <a:rPr lang="en-US" dirty="0"/>
            <a:t>AI Chatbot Logic</a:t>
          </a:r>
        </a:p>
      </dgm:t>
    </dgm:pt>
    <dgm:pt modelId="{E02F5B23-53BB-4BC5-A2C6-82680293E9B7}" type="parTrans" cxnId="{FE6A7EDF-A573-477E-B0A4-71C60DDFA672}">
      <dgm:prSet/>
      <dgm:spPr/>
      <dgm:t>
        <a:bodyPr/>
        <a:lstStyle/>
        <a:p>
          <a:endParaRPr lang="en-US"/>
        </a:p>
      </dgm:t>
    </dgm:pt>
    <dgm:pt modelId="{8B2F1836-86FF-40F8-82F7-EACF6FC5E5DB}" type="sibTrans" cxnId="{FE6A7EDF-A573-477E-B0A4-71C60DDFA672}">
      <dgm:prSet/>
      <dgm:spPr/>
      <dgm:t>
        <a:bodyPr/>
        <a:lstStyle/>
        <a:p>
          <a:endParaRPr lang="en-US"/>
        </a:p>
      </dgm:t>
    </dgm:pt>
    <dgm:pt modelId="{CD868467-EE1A-4CE1-A44A-A684E5B90551}" type="pres">
      <dgm:prSet presAssocID="{B926223A-9E6B-4A46-BDAA-F027CEDB38B8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FCB478-36B6-49AD-BC22-C87003BA649B}" type="pres">
      <dgm:prSet presAssocID="{B926223A-9E6B-4A46-BDAA-F027CEDB38B8}" presName="arrow" presStyleLbl="bgShp" presStyleIdx="0" presStyleCnt="1"/>
      <dgm:spPr/>
    </dgm:pt>
    <dgm:pt modelId="{9524D768-C082-4902-B34B-D3F805D95094}" type="pres">
      <dgm:prSet presAssocID="{B926223A-9E6B-4A46-BDAA-F027CEDB38B8}" presName="linearProcess" presStyleCnt="0"/>
      <dgm:spPr/>
    </dgm:pt>
    <dgm:pt modelId="{2E5B0C2D-8D30-419D-A592-63D9965EB14B}" type="pres">
      <dgm:prSet presAssocID="{A515478E-B671-4FF0-97E1-536D77C1B32D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BFC5BE-07FB-4FE4-8C8B-E894F88632F4}" type="pres">
      <dgm:prSet presAssocID="{545C8387-4981-45BA-9336-6024BA2972F9}" presName="sibTrans" presStyleCnt="0"/>
      <dgm:spPr/>
    </dgm:pt>
    <dgm:pt modelId="{FCB785EF-189B-423E-8694-4E5B4CFA9366}" type="pres">
      <dgm:prSet presAssocID="{F54F9F1D-C39D-48C1-A941-E78B40979EE1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16D51-1107-45B2-8309-7755523C22F8}" type="pres">
      <dgm:prSet presAssocID="{FCC890DE-7397-4628-9A18-6E8CEA0339B9}" presName="sibTrans" presStyleCnt="0"/>
      <dgm:spPr/>
    </dgm:pt>
    <dgm:pt modelId="{83CB127B-A1CD-4B13-A08B-A1B3E29AFFED}" type="pres">
      <dgm:prSet presAssocID="{FD6CCCC2-AB05-4036-8849-CD0BB3760D41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9DAA5F-707B-487B-85D3-082101C9706F}" type="pres">
      <dgm:prSet presAssocID="{604BA6EA-2006-4310-AD0A-24E9BB474EBF}" presName="sibTrans" presStyleCnt="0"/>
      <dgm:spPr/>
    </dgm:pt>
    <dgm:pt modelId="{0FE89426-5F5C-4583-A216-E9721194E2B7}" type="pres">
      <dgm:prSet presAssocID="{530C5AEF-9C29-470B-94E1-C9A29B118AB9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8FD35A-907A-4954-83A5-8E657CF18505}" type="pres">
      <dgm:prSet presAssocID="{6AC33510-77DD-49AE-A708-E3F74D2943E6}" presName="sibTrans" presStyleCnt="0"/>
      <dgm:spPr/>
    </dgm:pt>
    <dgm:pt modelId="{22FE9B4F-2408-415A-A6F5-A92CEC1D2E22}" type="pres">
      <dgm:prSet presAssocID="{908C284A-C217-41DA-87BB-36E81B1F066F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F8BB4F-7CCA-4601-941E-F1255C11B10E}" type="presOf" srcId="{530C5AEF-9C29-470B-94E1-C9A29B118AB9}" destId="{0FE89426-5F5C-4583-A216-E9721194E2B7}" srcOrd="0" destOrd="0" presId="urn:microsoft.com/office/officeart/2005/8/layout/hProcess9"/>
    <dgm:cxn modelId="{1D0B84A4-A4F6-45C5-A627-743A8FF03D72}" srcId="{B926223A-9E6B-4A46-BDAA-F027CEDB38B8}" destId="{FD6CCCC2-AB05-4036-8849-CD0BB3760D41}" srcOrd="2" destOrd="0" parTransId="{61594AB4-9E3D-456D-AEE5-A7F5E972CB14}" sibTransId="{604BA6EA-2006-4310-AD0A-24E9BB474EBF}"/>
    <dgm:cxn modelId="{C9E8AA31-60DC-4CBB-805B-47399BF4A976}" srcId="{B926223A-9E6B-4A46-BDAA-F027CEDB38B8}" destId="{F54F9F1D-C39D-48C1-A941-E78B40979EE1}" srcOrd="1" destOrd="0" parTransId="{CC006787-AC9C-461C-9025-57038D7D284D}" sibTransId="{FCC890DE-7397-4628-9A18-6E8CEA0339B9}"/>
    <dgm:cxn modelId="{B0BC8C09-104C-4C3D-BCD8-6F3DC4D82B3A}" type="presOf" srcId="{A515478E-B671-4FF0-97E1-536D77C1B32D}" destId="{2E5B0C2D-8D30-419D-A592-63D9965EB14B}" srcOrd="0" destOrd="0" presId="urn:microsoft.com/office/officeart/2005/8/layout/hProcess9"/>
    <dgm:cxn modelId="{2EA309B8-7125-4740-B397-3BE877F2BDBE}" type="presOf" srcId="{B926223A-9E6B-4A46-BDAA-F027CEDB38B8}" destId="{CD868467-EE1A-4CE1-A44A-A684E5B90551}" srcOrd="0" destOrd="0" presId="urn:microsoft.com/office/officeart/2005/8/layout/hProcess9"/>
    <dgm:cxn modelId="{99B24EB2-F946-4057-B277-68C76CD70A07}" srcId="{B926223A-9E6B-4A46-BDAA-F027CEDB38B8}" destId="{530C5AEF-9C29-470B-94E1-C9A29B118AB9}" srcOrd="3" destOrd="0" parTransId="{8A3A6352-00AB-4395-94EF-A3A5DAB8137E}" sibTransId="{6AC33510-77DD-49AE-A708-E3F74D2943E6}"/>
    <dgm:cxn modelId="{53A1FBA2-BC5C-40C1-9B2D-73AFC51D3D4A}" srcId="{B926223A-9E6B-4A46-BDAA-F027CEDB38B8}" destId="{A515478E-B671-4FF0-97E1-536D77C1B32D}" srcOrd="0" destOrd="0" parTransId="{32A9B4A6-A227-40EA-B0EF-C0C36F0C27D8}" sibTransId="{545C8387-4981-45BA-9336-6024BA2972F9}"/>
    <dgm:cxn modelId="{C33BAEC8-E963-4383-8367-C63B7513031F}" type="presOf" srcId="{F54F9F1D-C39D-48C1-A941-E78B40979EE1}" destId="{FCB785EF-189B-423E-8694-4E5B4CFA9366}" srcOrd="0" destOrd="0" presId="urn:microsoft.com/office/officeart/2005/8/layout/hProcess9"/>
    <dgm:cxn modelId="{E036BCDF-5289-4302-B31B-FD3BD4A403C1}" type="presOf" srcId="{FD6CCCC2-AB05-4036-8849-CD0BB3760D41}" destId="{83CB127B-A1CD-4B13-A08B-A1B3E29AFFED}" srcOrd="0" destOrd="0" presId="urn:microsoft.com/office/officeart/2005/8/layout/hProcess9"/>
    <dgm:cxn modelId="{67EE3032-7A0F-4245-9CE7-6E981D890C00}" type="presOf" srcId="{908C284A-C217-41DA-87BB-36E81B1F066F}" destId="{22FE9B4F-2408-415A-A6F5-A92CEC1D2E22}" srcOrd="0" destOrd="0" presId="urn:microsoft.com/office/officeart/2005/8/layout/hProcess9"/>
    <dgm:cxn modelId="{FE6A7EDF-A573-477E-B0A4-71C60DDFA672}" srcId="{B926223A-9E6B-4A46-BDAA-F027CEDB38B8}" destId="{908C284A-C217-41DA-87BB-36E81B1F066F}" srcOrd="4" destOrd="0" parTransId="{E02F5B23-53BB-4BC5-A2C6-82680293E9B7}" sibTransId="{8B2F1836-86FF-40F8-82F7-EACF6FC5E5DB}"/>
    <dgm:cxn modelId="{F271F611-2471-49E8-B916-698BACE5C2FA}" type="presParOf" srcId="{CD868467-EE1A-4CE1-A44A-A684E5B90551}" destId="{28FCB478-36B6-49AD-BC22-C87003BA649B}" srcOrd="0" destOrd="0" presId="urn:microsoft.com/office/officeart/2005/8/layout/hProcess9"/>
    <dgm:cxn modelId="{E56957D4-D737-45DF-9F92-B6058342BF30}" type="presParOf" srcId="{CD868467-EE1A-4CE1-A44A-A684E5B90551}" destId="{9524D768-C082-4902-B34B-D3F805D95094}" srcOrd="1" destOrd="0" presId="urn:microsoft.com/office/officeart/2005/8/layout/hProcess9"/>
    <dgm:cxn modelId="{8318A869-FFA1-40F3-9F97-80E4EC6B7D83}" type="presParOf" srcId="{9524D768-C082-4902-B34B-D3F805D95094}" destId="{2E5B0C2D-8D30-419D-A592-63D9965EB14B}" srcOrd="0" destOrd="0" presId="urn:microsoft.com/office/officeart/2005/8/layout/hProcess9"/>
    <dgm:cxn modelId="{251AAEEF-1508-4F49-9DF4-F25E3AA349DF}" type="presParOf" srcId="{9524D768-C082-4902-B34B-D3F805D95094}" destId="{AABFC5BE-07FB-4FE4-8C8B-E894F88632F4}" srcOrd="1" destOrd="0" presId="urn:microsoft.com/office/officeart/2005/8/layout/hProcess9"/>
    <dgm:cxn modelId="{F470BABA-9602-410B-8C15-E2CD838BB30F}" type="presParOf" srcId="{9524D768-C082-4902-B34B-D3F805D95094}" destId="{FCB785EF-189B-423E-8694-4E5B4CFA9366}" srcOrd="2" destOrd="0" presId="urn:microsoft.com/office/officeart/2005/8/layout/hProcess9"/>
    <dgm:cxn modelId="{8EFC71C0-0FDC-4110-B178-70872C05BE28}" type="presParOf" srcId="{9524D768-C082-4902-B34B-D3F805D95094}" destId="{17016D51-1107-45B2-8309-7755523C22F8}" srcOrd="3" destOrd="0" presId="urn:microsoft.com/office/officeart/2005/8/layout/hProcess9"/>
    <dgm:cxn modelId="{3A8ADCE9-0417-4536-A184-B1134491A5AF}" type="presParOf" srcId="{9524D768-C082-4902-B34B-D3F805D95094}" destId="{83CB127B-A1CD-4B13-A08B-A1B3E29AFFED}" srcOrd="4" destOrd="0" presId="urn:microsoft.com/office/officeart/2005/8/layout/hProcess9"/>
    <dgm:cxn modelId="{5352A866-360B-438F-B021-FFD47718A8A5}" type="presParOf" srcId="{9524D768-C082-4902-B34B-D3F805D95094}" destId="{499DAA5F-707B-487B-85D3-082101C9706F}" srcOrd="5" destOrd="0" presId="urn:microsoft.com/office/officeart/2005/8/layout/hProcess9"/>
    <dgm:cxn modelId="{60E29FCE-9BEF-41DE-9694-AC55DAA34C1C}" type="presParOf" srcId="{9524D768-C082-4902-B34B-D3F805D95094}" destId="{0FE89426-5F5C-4583-A216-E9721194E2B7}" srcOrd="6" destOrd="0" presId="urn:microsoft.com/office/officeart/2005/8/layout/hProcess9"/>
    <dgm:cxn modelId="{A1324E15-3533-4C20-A10D-FB6D3069BF90}" type="presParOf" srcId="{9524D768-C082-4902-B34B-D3F805D95094}" destId="{D98FD35A-907A-4954-83A5-8E657CF18505}" srcOrd="7" destOrd="0" presId="urn:microsoft.com/office/officeart/2005/8/layout/hProcess9"/>
    <dgm:cxn modelId="{6C8E3C49-EE00-46CB-9008-7BC10789525F}" type="presParOf" srcId="{9524D768-C082-4902-B34B-D3F805D95094}" destId="{22FE9B4F-2408-415A-A6F5-A92CEC1D2E22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D45EA7-2D87-4B13-90E6-76685F8477E5}" type="doc">
      <dgm:prSet loTypeId="urn:microsoft.com/office/officeart/2005/8/layout/venn1" loCatId="relationship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8DACB2-E638-4DB1-BEDA-44F2176964A9}">
      <dgm:prSet/>
      <dgm:spPr/>
      <dgm:t>
        <a:bodyPr/>
        <a:lstStyle/>
        <a:p>
          <a:r>
            <a:rPr lang="en-US" dirty="0"/>
            <a:t>Hybrid Library System (Physical + Digital)</a:t>
          </a:r>
        </a:p>
      </dgm:t>
    </dgm:pt>
    <dgm:pt modelId="{A2613AC8-803F-4505-B13A-7AF0FE163D13}" type="parTrans" cxnId="{D2D4EFAB-35E8-4BC0-9528-5403FD7F7B57}">
      <dgm:prSet/>
      <dgm:spPr/>
      <dgm:t>
        <a:bodyPr/>
        <a:lstStyle/>
        <a:p>
          <a:endParaRPr lang="en-US"/>
        </a:p>
      </dgm:t>
    </dgm:pt>
    <dgm:pt modelId="{52F05B9E-FAC2-40B3-92CC-BC45A8952ABF}" type="sibTrans" cxnId="{D2D4EFAB-35E8-4BC0-9528-5403FD7F7B57}">
      <dgm:prSet/>
      <dgm:spPr/>
      <dgm:t>
        <a:bodyPr/>
        <a:lstStyle/>
        <a:p>
          <a:endParaRPr lang="en-US"/>
        </a:p>
      </dgm:t>
    </dgm:pt>
    <dgm:pt modelId="{48B89AC3-586D-448B-BF8D-9FF1D946AD10}">
      <dgm:prSet/>
      <dgm:spPr/>
      <dgm:t>
        <a:bodyPr/>
        <a:lstStyle/>
        <a:p>
          <a:r>
            <a:rPr lang="en-US"/>
            <a:t>AI Student Assistant</a:t>
          </a:r>
        </a:p>
      </dgm:t>
    </dgm:pt>
    <dgm:pt modelId="{B996D492-1856-4A27-91CC-EA390A442068}" type="parTrans" cxnId="{C528E6A5-F523-4743-877F-ED44BA075D44}">
      <dgm:prSet/>
      <dgm:spPr/>
      <dgm:t>
        <a:bodyPr/>
        <a:lstStyle/>
        <a:p>
          <a:endParaRPr lang="en-US"/>
        </a:p>
      </dgm:t>
    </dgm:pt>
    <dgm:pt modelId="{3CA9FF87-E6AF-4972-957B-E4EC4F87CD6C}" type="sibTrans" cxnId="{C528E6A5-F523-4743-877F-ED44BA075D44}">
      <dgm:prSet/>
      <dgm:spPr/>
      <dgm:t>
        <a:bodyPr/>
        <a:lstStyle/>
        <a:p>
          <a:endParaRPr lang="en-US"/>
        </a:p>
      </dgm:t>
    </dgm:pt>
    <dgm:pt modelId="{E4853844-BF9D-4D49-8CAA-A3A98FF84133}">
      <dgm:prSet/>
      <dgm:spPr/>
      <dgm:t>
        <a:bodyPr/>
        <a:lstStyle/>
        <a:p>
          <a:r>
            <a:rPr lang="en-US"/>
            <a:t>Department-Specific Design</a:t>
          </a:r>
        </a:p>
      </dgm:t>
    </dgm:pt>
    <dgm:pt modelId="{46004068-9656-48D2-8382-B6BA28C71DCC}" type="parTrans" cxnId="{DE1ED04A-00B5-4458-A95B-813DC1111150}">
      <dgm:prSet/>
      <dgm:spPr/>
      <dgm:t>
        <a:bodyPr/>
        <a:lstStyle/>
        <a:p>
          <a:endParaRPr lang="en-US"/>
        </a:p>
      </dgm:t>
    </dgm:pt>
    <dgm:pt modelId="{902A00F0-F9E1-481A-97E0-4E37DA894A32}" type="sibTrans" cxnId="{DE1ED04A-00B5-4458-A95B-813DC1111150}">
      <dgm:prSet/>
      <dgm:spPr/>
      <dgm:t>
        <a:bodyPr/>
        <a:lstStyle/>
        <a:p>
          <a:endParaRPr lang="en-US"/>
        </a:p>
      </dgm:t>
    </dgm:pt>
    <dgm:pt modelId="{BF435081-57E6-40AE-B8ED-19BD490541CC}">
      <dgm:prSet/>
      <dgm:spPr/>
      <dgm:t>
        <a:bodyPr/>
        <a:lstStyle/>
        <a:p>
          <a:r>
            <a:rPr lang="en-US"/>
            <a:t>Real-Time Resource Access</a:t>
          </a:r>
        </a:p>
      </dgm:t>
    </dgm:pt>
    <dgm:pt modelId="{4B7A4655-1E86-4199-84C8-473719DC5404}" type="parTrans" cxnId="{1D59EFA8-4F28-4497-A17A-95FF93B3F7FD}">
      <dgm:prSet/>
      <dgm:spPr/>
      <dgm:t>
        <a:bodyPr/>
        <a:lstStyle/>
        <a:p>
          <a:endParaRPr lang="en-US"/>
        </a:p>
      </dgm:t>
    </dgm:pt>
    <dgm:pt modelId="{3E21A21C-EA2E-4152-9770-B4F585599274}" type="sibTrans" cxnId="{1D59EFA8-4F28-4497-A17A-95FF93B3F7FD}">
      <dgm:prSet/>
      <dgm:spPr/>
      <dgm:t>
        <a:bodyPr/>
        <a:lstStyle/>
        <a:p>
          <a:endParaRPr lang="en-US"/>
        </a:p>
      </dgm:t>
    </dgm:pt>
    <dgm:pt modelId="{40A825E9-60AB-458A-9108-ABC347830C51}">
      <dgm:prSet/>
      <dgm:spPr/>
      <dgm:t>
        <a:bodyPr/>
        <a:lstStyle/>
        <a:p>
          <a:r>
            <a:rPr lang="en-US"/>
            <a:t>User-Friendly Interface</a:t>
          </a:r>
        </a:p>
      </dgm:t>
    </dgm:pt>
    <dgm:pt modelId="{33822050-94C1-4422-AEA3-F4F52DB642D4}" type="parTrans" cxnId="{9EAB2A4F-056A-4AF2-A5B1-8AA9BD616168}">
      <dgm:prSet/>
      <dgm:spPr/>
      <dgm:t>
        <a:bodyPr/>
        <a:lstStyle/>
        <a:p>
          <a:endParaRPr lang="en-US"/>
        </a:p>
      </dgm:t>
    </dgm:pt>
    <dgm:pt modelId="{F31F5E9C-B396-4950-8039-3761C21D8449}" type="sibTrans" cxnId="{9EAB2A4F-056A-4AF2-A5B1-8AA9BD616168}">
      <dgm:prSet/>
      <dgm:spPr/>
      <dgm:t>
        <a:bodyPr/>
        <a:lstStyle/>
        <a:p>
          <a:endParaRPr lang="en-US"/>
        </a:p>
      </dgm:t>
    </dgm:pt>
    <dgm:pt modelId="{1CBD9643-571A-4704-A706-7222F323CF50}" type="pres">
      <dgm:prSet presAssocID="{1ED45EA7-2D87-4B13-90E6-76685F8477E5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206571-D8FC-4788-AB32-FB59AACB8E12}" type="pres">
      <dgm:prSet presAssocID="{648DACB2-E638-4DB1-BEDA-44F2176964A9}" presName="circ1" presStyleLbl="vennNode1" presStyleIdx="0" presStyleCnt="5"/>
      <dgm:spPr/>
    </dgm:pt>
    <dgm:pt modelId="{66449BC7-EEDA-46F7-9CF2-AA785352B8C0}" type="pres">
      <dgm:prSet presAssocID="{648DACB2-E638-4DB1-BEDA-44F2176964A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992082-BF87-43C2-9D0E-B3FE8211EBE4}" type="pres">
      <dgm:prSet presAssocID="{48B89AC3-586D-448B-BF8D-9FF1D946AD10}" presName="circ2" presStyleLbl="vennNode1" presStyleIdx="1" presStyleCnt="5"/>
      <dgm:spPr/>
    </dgm:pt>
    <dgm:pt modelId="{3F898D5D-3E76-4FA8-A439-7AC0F6FE45A6}" type="pres">
      <dgm:prSet presAssocID="{48B89AC3-586D-448B-BF8D-9FF1D946AD1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0FED3D-554A-46BE-9ACE-23A466287EC4}" type="pres">
      <dgm:prSet presAssocID="{E4853844-BF9D-4D49-8CAA-A3A98FF84133}" presName="circ3" presStyleLbl="vennNode1" presStyleIdx="2" presStyleCnt="5"/>
      <dgm:spPr/>
    </dgm:pt>
    <dgm:pt modelId="{32DF9459-1845-4731-8A0D-6DDEB35A2972}" type="pres">
      <dgm:prSet presAssocID="{E4853844-BF9D-4D49-8CAA-A3A98FF8413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4DDEE0-DA4B-4FC6-9A93-858C56F0EE72}" type="pres">
      <dgm:prSet presAssocID="{BF435081-57E6-40AE-B8ED-19BD490541CC}" presName="circ4" presStyleLbl="vennNode1" presStyleIdx="3" presStyleCnt="5"/>
      <dgm:spPr/>
    </dgm:pt>
    <dgm:pt modelId="{B467C531-4E96-4270-9DFD-9DF5C9FC34E2}" type="pres">
      <dgm:prSet presAssocID="{BF435081-57E6-40AE-B8ED-19BD490541C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8D5130-2168-470F-A8C5-785693A5E5A0}" type="pres">
      <dgm:prSet presAssocID="{40A825E9-60AB-458A-9108-ABC347830C51}" presName="circ5" presStyleLbl="vennNode1" presStyleIdx="4" presStyleCnt="5"/>
      <dgm:spPr/>
    </dgm:pt>
    <dgm:pt modelId="{523A1E05-68B6-4C0C-B4E8-8B44863AC569}" type="pres">
      <dgm:prSet presAssocID="{40A825E9-60AB-458A-9108-ABC347830C5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A3004-4A3E-4CEB-A351-DE710A618149}" type="presOf" srcId="{648DACB2-E638-4DB1-BEDA-44F2176964A9}" destId="{66449BC7-EEDA-46F7-9CF2-AA785352B8C0}" srcOrd="0" destOrd="0" presId="urn:microsoft.com/office/officeart/2005/8/layout/venn1"/>
    <dgm:cxn modelId="{051AA711-956E-4FEE-A50E-A73FD98EF6B6}" type="presOf" srcId="{1ED45EA7-2D87-4B13-90E6-76685F8477E5}" destId="{1CBD9643-571A-4704-A706-7222F323CF50}" srcOrd="0" destOrd="0" presId="urn:microsoft.com/office/officeart/2005/8/layout/venn1"/>
    <dgm:cxn modelId="{C528E6A5-F523-4743-877F-ED44BA075D44}" srcId="{1ED45EA7-2D87-4B13-90E6-76685F8477E5}" destId="{48B89AC3-586D-448B-BF8D-9FF1D946AD10}" srcOrd="1" destOrd="0" parTransId="{B996D492-1856-4A27-91CC-EA390A442068}" sibTransId="{3CA9FF87-E6AF-4972-957B-E4EC4F87CD6C}"/>
    <dgm:cxn modelId="{3C1700B8-049F-48BC-AF48-EEA37C046067}" type="presOf" srcId="{E4853844-BF9D-4D49-8CAA-A3A98FF84133}" destId="{32DF9459-1845-4731-8A0D-6DDEB35A2972}" srcOrd="0" destOrd="0" presId="urn:microsoft.com/office/officeart/2005/8/layout/venn1"/>
    <dgm:cxn modelId="{9EAB2A4F-056A-4AF2-A5B1-8AA9BD616168}" srcId="{1ED45EA7-2D87-4B13-90E6-76685F8477E5}" destId="{40A825E9-60AB-458A-9108-ABC347830C51}" srcOrd="4" destOrd="0" parTransId="{33822050-94C1-4422-AEA3-F4F52DB642D4}" sibTransId="{F31F5E9C-B396-4950-8039-3761C21D8449}"/>
    <dgm:cxn modelId="{E20FC8E7-E8A0-4A37-AF61-F0F9FEA610E0}" type="presOf" srcId="{BF435081-57E6-40AE-B8ED-19BD490541CC}" destId="{B467C531-4E96-4270-9DFD-9DF5C9FC34E2}" srcOrd="0" destOrd="0" presId="urn:microsoft.com/office/officeart/2005/8/layout/venn1"/>
    <dgm:cxn modelId="{D2D4EFAB-35E8-4BC0-9528-5403FD7F7B57}" srcId="{1ED45EA7-2D87-4B13-90E6-76685F8477E5}" destId="{648DACB2-E638-4DB1-BEDA-44F2176964A9}" srcOrd="0" destOrd="0" parTransId="{A2613AC8-803F-4505-B13A-7AF0FE163D13}" sibTransId="{52F05B9E-FAC2-40B3-92CC-BC45A8952ABF}"/>
    <dgm:cxn modelId="{DE1ED04A-00B5-4458-A95B-813DC1111150}" srcId="{1ED45EA7-2D87-4B13-90E6-76685F8477E5}" destId="{E4853844-BF9D-4D49-8CAA-A3A98FF84133}" srcOrd="2" destOrd="0" parTransId="{46004068-9656-48D2-8382-B6BA28C71DCC}" sibTransId="{902A00F0-F9E1-481A-97E0-4E37DA894A32}"/>
    <dgm:cxn modelId="{1D59EFA8-4F28-4497-A17A-95FF93B3F7FD}" srcId="{1ED45EA7-2D87-4B13-90E6-76685F8477E5}" destId="{BF435081-57E6-40AE-B8ED-19BD490541CC}" srcOrd="3" destOrd="0" parTransId="{4B7A4655-1E86-4199-84C8-473719DC5404}" sibTransId="{3E21A21C-EA2E-4152-9770-B4F585599274}"/>
    <dgm:cxn modelId="{A1826FD2-3528-47EB-84DE-D867E5274CC2}" type="presOf" srcId="{48B89AC3-586D-448B-BF8D-9FF1D946AD10}" destId="{3F898D5D-3E76-4FA8-A439-7AC0F6FE45A6}" srcOrd="0" destOrd="0" presId="urn:microsoft.com/office/officeart/2005/8/layout/venn1"/>
    <dgm:cxn modelId="{44EAA264-2B97-4215-9A3D-84377C59FA55}" type="presOf" srcId="{40A825E9-60AB-458A-9108-ABC347830C51}" destId="{523A1E05-68B6-4C0C-B4E8-8B44863AC569}" srcOrd="0" destOrd="0" presId="urn:microsoft.com/office/officeart/2005/8/layout/venn1"/>
    <dgm:cxn modelId="{46D9D8EA-A102-4A7C-8676-4EC50D3F4A7E}" type="presParOf" srcId="{1CBD9643-571A-4704-A706-7222F323CF50}" destId="{8B206571-D8FC-4788-AB32-FB59AACB8E12}" srcOrd="0" destOrd="0" presId="urn:microsoft.com/office/officeart/2005/8/layout/venn1"/>
    <dgm:cxn modelId="{8BC46597-C839-4E0F-BB18-FE6631A2B71D}" type="presParOf" srcId="{1CBD9643-571A-4704-A706-7222F323CF50}" destId="{66449BC7-EEDA-46F7-9CF2-AA785352B8C0}" srcOrd="1" destOrd="0" presId="urn:microsoft.com/office/officeart/2005/8/layout/venn1"/>
    <dgm:cxn modelId="{9891DD41-D6AE-4A9A-ACA1-746E9E396F24}" type="presParOf" srcId="{1CBD9643-571A-4704-A706-7222F323CF50}" destId="{4F992082-BF87-43C2-9D0E-B3FE8211EBE4}" srcOrd="2" destOrd="0" presId="urn:microsoft.com/office/officeart/2005/8/layout/venn1"/>
    <dgm:cxn modelId="{ED5B5B06-1261-49B3-B405-96BBFAC0FD97}" type="presParOf" srcId="{1CBD9643-571A-4704-A706-7222F323CF50}" destId="{3F898D5D-3E76-4FA8-A439-7AC0F6FE45A6}" srcOrd="3" destOrd="0" presId="urn:microsoft.com/office/officeart/2005/8/layout/venn1"/>
    <dgm:cxn modelId="{A4FA851C-2AC9-4C34-88D7-0817734CEE46}" type="presParOf" srcId="{1CBD9643-571A-4704-A706-7222F323CF50}" destId="{E10FED3D-554A-46BE-9ACE-23A466287EC4}" srcOrd="4" destOrd="0" presId="urn:microsoft.com/office/officeart/2005/8/layout/venn1"/>
    <dgm:cxn modelId="{E428074F-D34B-4065-9EBF-21F855C1D4FC}" type="presParOf" srcId="{1CBD9643-571A-4704-A706-7222F323CF50}" destId="{32DF9459-1845-4731-8A0D-6DDEB35A2972}" srcOrd="5" destOrd="0" presId="urn:microsoft.com/office/officeart/2005/8/layout/venn1"/>
    <dgm:cxn modelId="{F0D5511B-E5B5-41FC-92BB-6372148FA6D3}" type="presParOf" srcId="{1CBD9643-571A-4704-A706-7222F323CF50}" destId="{E94DDEE0-DA4B-4FC6-9A93-858C56F0EE72}" srcOrd="6" destOrd="0" presId="urn:microsoft.com/office/officeart/2005/8/layout/venn1"/>
    <dgm:cxn modelId="{23C34A54-FA1E-4714-93F7-4F16AD8F533B}" type="presParOf" srcId="{1CBD9643-571A-4704-A706-7222F323CF50}" destId="{B467C531-4E96-4270-9DFD-9DF5C9FC34E2}" srcOrd="7" destOrd="0" presId="urn:microsoft.com/office/officeart/2005/8/layout/venn1"/>
    <dgm:cxn modelId="{AD9AAA70-F426-4CBB-A7DA-3E6C70B5D284}" type="presParOf" srcId="{1CBD9643-571A-4704-A706-7222F323CF50}" destId="{BE8D5130-2168-470F-A8C5-785693A5E5A0}" srcOrd="8" destOrd="0" presId="urn:microsoft.com/office/officeart/2005/8/layout/venn1"/>
    <dgm:cxn modelId="{18519DDD-3002-4772-842F-840A46C0934A}" type="presParOf" srcId="{1CBD9643-571A-4704-A706-7222F323CF50}" destId="{523A1E05-68B6-4C0C-B4E8-8B44863AC569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B478-36B6-49AD-BC22-C87003BA649B}">
      <dsp:nvSpPr>
        <dsp:cNvPr id="0" name=""/>
        <dsp:cNvSpPr/>
      </dsp:nvSpPr>
      <dsp:spPr>
        <a:xfrm>
          <a:off x="565785" y="0"/>
          <a:ext cx="6412230" cy="402336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B0C2D-8D30-419D-A592-63D9965EB14B}">
      <dsp:nvSpPr>
        <dsp:cNvPr id="0" name=""/>
        <dsp:cNvSpPr/>
      </dsp:nvSpPr>
      <dsp:spPr>
        <a:xfrm>
          <a:off x="3315" y="1207008"/>
          <a:ext cx="1449455" cy="1609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Frontend (Web Interface)</a:t>
          </a:r>
        </a:p>
      </dsp:txBody>
      <dsp:txXfrm>
        <a:off x="74072" y="1277765"/>
        <a:ext cx="1307941" cy="1467830"/>
      </dsp:txXfrm>
    </dsp:sp>
    <dsp:sp modelId="{FCB785EF-189B-423E-8694-4E5B4CFA9366}">
      <dsp:nvSpPr>
        <dsp:cNvPr id="0" name=""/>
        <dsp:cNvSpPr/>
      </dsp:nvSpPr>
      <dsp:spPr>
        <a:xfrm>
          <a:off x="1525243" y="1207008"/>
          <a:ext cx="1449455" cy="1609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Backend (Core System Logic)</a:t>
          </a:r>
        </a:p>
      </dsp:txBody>
      <dsp:txXfrm>
        <a:off x="1596000" y="1277765"/>
        <a:ext cx="1307941" cy="1467830"/>
      </dsp:txXfrm>
    </dsp:sp>
    <dsp:sp modelId="{83CB127B-A1CD-4B13-A08B-A1B3E29AFFED}">
      <dsp:nvSpPr>
        <dsp:cNvPr id="0" name=""/>
        <dsp:cNvSpPr/>
      </dsp:nvSpPr>
      <dsp:spPr>
        <a:xfrm>
          <a:off x="3047172" y="1207008"/>
          <a:ext cx="1449455" cy="1609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Database (Book &amp; Student Records)</a:t>
          </a:r>
        </a:p>
      </dsp:txBody>
      <dsp:txXfrm>
        <a:off x="3117929" y="1277765"/>
        <a:ext cx="1307941" cy="1467830"/>
      </dsp:txXfrm>
    </dsp:sp>
    <dsp:sp modelId="{0FE89426-5F5C-4583-A216-E9721194E2B7}">
      <dsp:nvSpPr>
        <dsp:cNvPr id="0" name=""/>
        <dsp:cNvSpPr/>
      </dsp:nvSpPr>
      <dsp:spPr>
        <a:xfrm>
          <a:off x="4569101" y="1207008"/>
          <a:ext cx="1449455" cy="1609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Digital Resource Storage</a:t>
          </a:r>
        </a:p>
      </dsp:txBody>
      <dsp:txXfrm>
        <a:off x="4639858" y="1277765"/>
        <a:ext cx="1307941" cy="1467830"/>
      </dsp:txXfrm>
    </dsp:sp>
    <dsp:sp modelId="{22FE9B4F-2408-415A-A6F5-A92CEC1D2E22}">
      <dsp:nvSpPr>
        <dsp:cNvPr id="0" name=""/>
        <dsp:cNvSpPr/>
      </dsp:nvSpPr>
      <dsp:spPr>
        <a:xfrm>
          <a:off x="6091029" y="1207008"/>
          <a:ext cx="1449455" cy="16093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AI Chatbot Logic</a:t>
          </a:r>
        </a:p>
      </dsp:txBody>
      <dsp:txXfrm>
        <a:off x="6161786" y="1277765"/>
        <a:ext cx="1307941" cy="14678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60F81-19FA-4994-BD27-0BACACD876D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D93A7-8DD8-43DE-ACE0-5C19CD425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5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57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2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66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4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5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4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5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48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690" y="854634"/>
            <a:ext cx="7543800" cy="124125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Smart Library Management System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(</a:t>
            </a:r>
            <a:r>
              <a:rPr lang="en-US" sz="4000" b="1" dirty="0" err="1">
                <a:latin typeface="+mn-lt"/>
              </a:rPr>
              <a:t>BiblioTrack</a:t>
            </a:r>
            <a:r>
              <a:rPr lang="en-US" sz="4000" b="1" dirty="0">
                <a:latin typeface="+mn-lt"/>
              </a:rPr>
              <a:t>)</a:t>
            </a:r>
            <a:endParaRPr sz="40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C6230A-F328-D4A9-EBE1-1D6E834CD6F4}"/>
              </a:ext>
            </a:extLst>
          </p:cNvPr>
          <p:cNvSpPr txBox="1"/>
          <p:nvPr/>
        </p:nvSpPr>
        <p:spPr>
          <a:xfrm>
            <a:off x="1969247" y="2171262"/>
            <a:ext cx="5071034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Project’s Supervisor: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600" dirty="0" smtClean="0">
                <a:solidFill>
                  <a:schemeClr val="accent1">
                    <a:lumMod val="75000"/>
                  </a:schemeClr>
                </a:solidFill>
              </a:rPr>
              <a:t>Dr.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Javed Iqbal</a:t>
            </a:r>
          </a:p>
          <a:p>
            <a:pPr algn="ctr">
              <a:lnSpc>
                <a:spcPct val="150000"/>
              </a:lnSpc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Email: </a:t>
            </a:r>
            <a:r>
              <a:rPr lang="en-US" sz="2600" b="1" dirty="0" smtClean="0">
                <a:solidFill>
                  <a:schemeClr val="accent1"/>
                </a:solidFill>
              </a:rPr>
              <a:t>javaidiq@uop.edu.pk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FYP Proposal Defense</a:t>
            </a:r>
          </a:p>
          <a:p>
            <a:pPr algn="ctr"/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8402539-B7D8-833A-B09C-9DCB9DC306B1}"/>
              </a:ext>
            </a:extLst>
          </p:cNvPr>
          <p:cNvSpPr txBox="1"/>
          <p:nvPr/>
        </p:nvSpPr>
        <p:spPr>
          <a:xfrm>
            <a:off x="911465" y="4507701"/>
            <a:ext cx="3241709" cy="400110"/>
          </a:xfrm>
          <a:custGeom>
            <a:avLst/>
            <a:gdLst>
              <a:gd name="csX0" fmla="*/ 0 w 3241709"/>
              <a:gd name="csY0" fmla="*/ 0 h 400110"/>
              <a:gd name="csX1" fmla="*/ 648342 w 3241709"/>
              <a:gd name="csY1" fmla="*/ 0 h 400110"/>
              <a:gd name="csX2" fmla="*/ 1329101 w 3241709"/>
              <a:gd name="csY2" fmla="*/ 0 h 400110"/>
              <a:gd name="csX3" fmla="*/ 2009860 w 3241709"/>
              <a:gd name="csY3" fmla="*/ 0 h 400110"/>
              <a:gd name="csX4" fmla="*/ 3241709 w 3241709"/>
              <a:gd name="csY4" fmla="*/ 0 h 400110"/>
              <a:gd name="csX5" fmla="*/ 3241709 w 3241709"/>
              <a:gd name="csY5" fmla="*/ 400110 h 400110"/>
              <a:gd name="csX6" fmla="*/ 2690618 w 3241709"/>
              <a:gd name="csY6" fmla="*/ 400110 h 400110"/>
              <a:gd name="csX7" fmla="*/ 2139528 w 3241709"/>
              <a:gd name="csY7" fmla="*/ 400110 h 400110"/>
              <a:gd name="csX8" fmla="*/ 1523603 w 3241709"/>
              <a:gd name="csY8" fmla="*/ 400110 h 400110"/>
              <a:gd name="csX9" fmla="*/ 972513 w 3241709"/>
              <a:gd name="csY9" fmla="*/ 400110 h 400110"/>
              <a:gd name="csX10" fmla="*/ 0 w 3241709"/>
              <a:gd name="csY10" fmla="*/ 400110 h 400110"/>
              <a:gd name="csX11" fmla="*/ 0 w 3241709"/>
              <a:gd name="csY11" fmla="*/ 0 h 4001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41709" h="400110" fill="none" extrusionOk="0">
                <a:moveTo>
                  <a:pt x="0" y="0"/>
                </a:moveTo>
                <a:cubicBezTo>
                  <a:pt x="219717" y="25088"/>
                  <a:pt x="466458" y="-22359"/>
                  <a:pt x="648342" y="0"/>
                </a:cubicBezTo>
                <a:cubicBezTo>
                  <a:pt x="830226" y="22359"/>
                  <a:pt x="1140823" y="12465"/>
                  <a:pt x="1329101" y="0"/>
                </a:cubicBezTo>
                <a:cubicBezTo>
                  <a:pt x="1517379" y="-12465"/>
                  <a:pt x="1804531" y="27521"/>
                  <a:pt x="2009860" y="0"/>
                </a:cubicBezTo>
                <a:cubicBezTo>
                  <a:pt x="2215189" y="-27521"/>
                  <a:pt x="2772959" y="7207"/>
                  <a:pt x="3241709" y="0"/>
                </a:cubicBezTo>
                <a:cubicBezTo>
                  <a:pt x="3253383" y="104644"/>
                  <a:pt x="3223789" y="217856"/>
                  <a:pt x="3241709" y="400110"/>
                </a:cubicBezTo>
                <a:cubicBezTo>
                  <a:pt x="3080530" y="412604"/>
                  <a:pt x="2854420" y="396525"/>
                  <a:pt x="2690618" y="400110"/>
                </a:cubicBezTo>
                <a:cubicBezTo>
                  <a:pt x="2526816" y="403695"/>
                  <a:pt x="2356102" y="390073"/>
                  <a:pt x="2139528" y="400110"/>
                </a:cubicBezTo>
                <a:cubicBezTo>
                  <a:pt x="1922954" y="410148"/>
                  <a:pt x="1785674" y="425336"/>
                  <a:pt x="1523603" y="400110"/>
                </a:cubicBezTo>
                <a:cubicBezTo>
                  <a:pt x="1261532" y="374884"/>
                  <a:pt x="1203053" y="398524"/>
                  <a:pt x="972513" y="400110"/>
                </a:cubicBezTo>
                <a:cubicBezTo>
                  <a:pt x="741973" y="401697"/>
                  <a:pt x="380339" y="373098"/>
                  <a:pt x="0" y="400110"/>
                </a:cubicBezTo>
                <a:cubicBezTo>
                  <a:pt x="-7474" y="283835"/>
                  <a:pt x="10799" y="174570"/>
                  <a:pt x="0" y="0"/>
                </a:cubicBezTo>
                <a:close/>
              </a:path>
              <a:path w="3241709" h="400110" stroke="0" extrusionOk="0">
                <a:moveTo>
                  <a:pt x="0" y="0"/>
                </a:moveTo>
                <a:cubicBezTo>
                  <a:pt x="159494" y="-27046"/>
                  <a:pt x="327916" y="31365"/>
                  <a:pt x="648342" y="0"/>
                </a:cubicBezTo>
                <a:cubicBezTo>
                  <a:pt x="968768" y="-31365"/>
                  <a:pt x="1061802" y="-3764"/>
                  <a:pt x="1231849" y="0"/>
                </a:cubicBezTo>
                <a:cubicBezTo>
                  <a:pt x="1401896" y="3764"/>
                  <a:pt x="1741702" y="4493"/>
                  <a:pt x="1880191" y="0"/>
                </a:cubicBezTo>
                <a:cubicBezTo>
                  <a:pt x="2018680" y="-4493"/>
                  <a:pt x="2326237" y="-5193"/>
                  <a:pt x="2528533" y="0"/>
                </a:cubicBezTo>
                <a:cubicBezTo>
                  <a:pt x="2730829" y="5193"/>
                  <a:pt x="3003965" y="24048"/>
                  <a:pt x="3241709" y="0"/>
                </a:cubicBezTo>
                <a:cubicBezTo>
                  <a:pt x="3228047" y="102878"/>
                  <a:pt x="3240499" y="285280"/>
                  <a:pt x="3241709" y="400110"/>
                </a:cubicBezTo>
                <a:cubicBezTo>
                  <a:pt x="3045923" y="412927"/>
                  <a:pt x="2867119" y="416299"/>
                  <a:pt x="2690618" y="400110"/>
                </a:cubicBezTo>
                <a:cubicBezTo>
                  <a:pt x="2514117" y="383921"/>
                  <a:pt x="2380509" y="389612"/>
                  <a:pt x="2107111" y="400110"/>
                </a:cubicBezTo>
                <a:cubicBezTo>
                  <a:pt x="1833713" y="410608"/>
                  <a:pt x="1673643" y="427412"/>
                  <a:pt x="1426352" y="400110"/>
                </a:cubicBezTo>
                <a:cubicBezTo>
                  <a:pt x="1179061" y="372808"/>
                  <a:pt x="990139" y="398125"/>
                  <a:pt x="778010" y="400110"/>
                </a:cubicBezTo>
                <a:cubicBezTo>
                  <a:pt x="565881" y="402095"/>
                  <a:pt x="307354" y="420608"/>
                  <a:pt x="0" y="400110"/>
                </a:cubicBezTo>
                <a:cubicBezTo>
                  <a:pt x="-17295" y="277893"/>
                  <a:pt x="12369" y="100244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prstDash val="lgDashDotDot"/>
            <a:extLst>
              <a:ext uri="{C807C97D-BFC1-408E-A445-0C87EB9F89A2}">
                <ask:lineSketchStyleProps xmlns="" xmlns:ask="http://schemas.microsoft.com/office/drawing/2018/sketchyshapes" sd="163282263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spc="300" dirty="0"/>
              <a:t>Project Partners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388D3741-C91E-1E84-CB62-DADE77EA838B}"/>
              </a:ext>
            </a:extLst>
          </p:cNvPr>
          <p:cNvSpPr txBox="1">
            <a:spLocks/>
          </p:cNvSpPr>
          <p:nvPr/>
        </p:nvSpPr>
        <p:spPr>
          <a:xfrm>
            <a:off x="1298978" y="5163166"/>
            <a:ext cx="2541034" cy="821406"/>
          </a:xfrm>
          <a:custGeom>
            <a:avLst/>
            <a:gdLst>
              <a:gd name="csX0" fmla="*/ 0 w 2541034"/>
              <a:gd name="csY0" fmla="*/ 0 h 821406"/>
              <a:gd name="csX1" fmla="*/ 482796 w 2541034"/>
              <a:gd name="csY1" fmla="*/ 0 h 821406"/>
              <a:gd name="csX2" fmla="*/ 965593 w 2541034"/>
              <a:gd name="csY2" fmla="*/ 0 h 821406"/>
              <a:gd name="csX3" fmla="*/ 1524620 w 2541034"/>
              <a:gd name="csY3" fmla="*/ 0 h 821406"/>
              <a:gd name="csX4" fmla="*/ 2083648 w 2541034"/>
              <a:gd name="csY4" fmla="*/ 0 h 821406"/>
              <a:gd name="csX5" fmla="*/ 2541034 w 2541034"/>
              <a:gd name="csY5" fmla="*/ 0 h 821406"/>
              <a:gd name="csX6" fmla="*/ 2541034 w 2541034"/>
              <a:gd name="csY6" fmla="*/ 386061 h 821406"/>
              <a:gd name="csX7" fmla="*/ 2541034 w 2541034"/>
              <a:gd name="csY7" fmla="*/ 821406 h 821406"/>
              <a:gd name="csX8" fmla="*/ 2032827 w 2541034"/>
              <a:gd name="csY8" fmla="*/ 821406 h 821406"/>
              <a:gd name="csX9" fmla="*/ 1575441 w 2541034"/>
              <a:gd name="csY9" fmla="*/ 821406 h 821406"/>
              <a:gd name="csX10" fmla="*/ 1092645 w 2541034"/>
              <a:gd name="csY10" fmla="*/ 821406 h 821406"/>
              <a:gd name="csX11" fmla="*/ 660669 w 2541034"/>
              <a:gd name="csY11" fmla="*/ 821406 h 821406"/>
              <a:gd name="csX12" fmla="*/ 0 w 2541034"/>
              <a:gd name="csY12" fmla="*/ 821406 h 821406"/>
              <a:gd name="csX13" fmla="*/ 0 w 2541034"/>
              <a:gd name="csY13" fmla="*/ 410703 h 821406"/>
              <a:gd name="csX14" fmla="*/ 0 w 2541034"/>
              <a:gd name="csY14" fmla="*/ 0 h 821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41034" h="821406" fill="none" extrusionOk="0">
                <a:moveTo>
                  <a:pt x="0" y="0"/>
                </a:moveTo>
                <a:cubicBezTo>
                  <a:pt x="197926" y="-29554"/>
                  <a:pt x="277481" y="25990"/>
                  <a:pt x="482796" y="0"/>
                </a:cubicBezTo>
                <a:cubicBezTo>
                  <a:pt x="688111" y="-25990"/>
                  <a:pt x="788154" y="39561"/>
                  <a:pt x="965593" y="0"/>
                </a:cubicBezTo>
                <a:cubicBezTo>
                  <a:pt x="1143032" y="-39561"/>
                  <a:pt x="1373002" y="16557"/>
                  <a:pt x="1524620" y="0"/>
                </a:cubicBezTo>
                <a:cubicBezTo>
                  <a:pt x="1676238" y="-16557"/>
                  <a:pt x="1950511" y="36127"/>
                  <a:pt x="2083648" y="0"/>
                </a:cubicBezTo>
                <a:cubicBezTo>
                  <a:pt x="2216785" y="-36127"/>
                  <a:pt x="2356373" y="47487"/>
                  <a:pt x="2541034" y="0"/>
                </a:cubicBezTo>
                <a:cubicBezTo>
                  <a:pt x="2575873" y="144610"/>
                  <a:pt x="2531286" y="274002"/>
                  <a:pt x="2541034" y="386061"/>
                </a:cubicBezTo>
                <a:cubicBezTo>
                  <a:pt x="2550782" y="498120"/>
                  <a:pt x="2516470" y="717978"/>
                  <a:pt x="2541034" y="821406"/>
                </a:cubicBezTo>
                <a:cubicBezTo>
                  <a:pt x="2397794" y="831634"/>
                  <a:pt x="2149292" y="789284"/>
                  <a:pt x="2032827" y="821406"/>
                </a:cubicBezTo>
                <a:cubicBezTo>
                  <a:pt x="1916362" y="853528"/>
                  <a:pt x="1711605" y="796142"/>
                  <a:pt x="1575441" y="821406"/>
                </a:cubicBezTo>
                <a:cubicBezTo>
                  <a:pt x="1439277" y="846670"/>
                  <a:pt x="1257943" y="784911"/>
                  <a:pt x="1092645" y="821406"/>
                </a:cubicBezTo>
                <a:cubicBezTo>
                  <a:pt x="927347" y="857901"/>
                  <a:pt x="842131" y="777818"/>
                  <a:pt x="660669" y="821406"/>
                </a:cubicBezTo>
                <a:cubicBezTo>
                  <a:pt x="479207" y="864994"/>
                  <a:pt x="280659" y="787541"/>
                  <a:pt x="0" y="821406"/>
                </a:cubicBezTo>
                <a:cubicBezTo>
                  <a:pt x="-9811" y="708314"/>
                  <a:pt x="20024" y="558560"/>
                  <a:pt x="0" y="410703"/>
                </a:cubicBezTo>
                <a:cubicBezTo>
                  <a:pt x="-20024" y="262846"/>
                  <a:pt x="35751" y="114938"/>
                  <a:pt x="0" y="0"/>
                </a:cubicBezTo>
                <a:close/>
              </a:path>
              <a:path w="2541034" h="821406" stroke="0" extrusionOk="0">
                <a:moveTo>
                  <a:pt x="0" y="0"/>
                </a:moveTo>
                <a:cubicBezTo>
                  <a:pt x="190069" y="-36086"/>
                  <a:pt x="425926" y="55412"/>
                  <a:pt x="533617" y="0"/>
                </a:cubicBezTo>
                <a:cubicBezTo>
                  <a:pt x="641308" y="-55412"/>
                  <a:pt x="891463" y="41777"/>
                  <a:pt x="1092645" y="0"/>
                </a:cubicBezTo>
                <a:cubicBezTo>
                  <a:pt x="1293827" y="-41777"/>
                  <a:pt x="1391033" y="18416"/>
                  <a:pt x="1524620" y="0"/>
                </a:cubicBezTo>
                <a:cubicBezTo>
                  <a:pt x="1658208" y="-18416"/>
                  <a:pt x="1951520" y="12308"/>
                  <a:pt x="2083648" y="0"/>
                </a:cubicBezTo>
                <a:cubicBezTo>
                  <a:pt x="2215776" y="-12308"/>
                  <a:pt x="2417387" y="36645"/>
                  <a:pt x="2541034" y="0"/>
                </a:cubicBezTo>
                <a:cubicBezTo>
                  <a:pt x="2587023" y="168460"/>
                  <a:pt x="2535082" y="312919"/>
                  <a:pt x="2541034" y="418917"/>
                </a:cubicBezTo>
                <a:cubicBezTo>
                  <a:pt x="2546986" y="524915"/>
                  <a:pt x="2532122" y="642529"/>
                  <a:pt x="2541034" y="821406"/>
                </a:cubicBezTo>
                <a:cubicBezTo>
                  <a:pt x="2309099" y="844470"/>
                  <a:pt x="2195225" y="759811"/>
                  <a:pt x="1982007" y="821406"/>
                </a:cubicBezTo>
                <a:cubicBezTo>
                  <a:pt x="1768789" y="883001"/>
                  <a:pt x="1595377" y="759636"/>
                  <a:pt x="1448389" y="821406"/>
                </a:cubicBezTo>
                <a:cubicBezTo>
                  <a:pt x="1301401" y="883176"/>
                  <a:pt x="1087018" y="779586"/>
                  <a:pt x="965593" y="821406"/>
                </a:cubicBezTo>
                <a:cubicBezTo>
                  <a:pt x="844168" y="863226"/>
                  <a:pt x="341031" y="782838"/>
                  <a:pt x="0" y="821406"/>
                </a:cubicBezTo>
                <a:cubicBezTo>
                  <a:pt x="-22208" y="688143"/>
                  <a:pt x="5521" y="556887"/>
                  <a:pt x="0" y="394275"/>
                </a:cubicBezTo>
                <a:cubicBezTo>
                  <a:pt x="-5521" y="231663"/>
                  <a:pt x="20073" y="125654"/>
                  <a:pt x="0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 w="15875" cap="flat" cmpd="sng" algn="ctr"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="" xmlns:ask="http://schemas.microsoft.com/office/drawing/2018/sketchyshapes" sd="34670990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Syeda Dilawaiz</a:t>
            </a: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         92-B</a:t>
            </a: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     Designer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BD7064E5-38AB-E53F-5CF0-4E894DCEC928}"/>
              </a:ext>
            </a:extLst>
          </p:cNvPr>
          <p:cNvSpPr txBox="1">
            <a:spLocks/>
          </p:cNvSpPr>
          <p:nvPr/>
        </p:nvSpPr>
        <p:spPr>
          <a:xfrm>
            <a:off x="4300861" y="5163166"/>
            <a:ext cx="2541035" cy="828570"/>
          </a:xfrm>
          <a:custGeom>
            <a:avLst/>
            <a:gdLst>
              <a:gd name="csX0" fmla="*/ 0 w 2541035"/>
              <a:gd name="csY0" fmla="*/ 0 h 828570"/>
              <a:gd name="csX1" fmla="*/ 482797 w 2541035"/>
              <a:gd name="csY1" fmla="*/ 0 h 828570"/>
              <a:gd name="csX2" fmla="*/ 965593 w 2541035"/>
              <a:gd name="csY2" fmla="*/ 0 h 828570"/>
              <a:gd name="csX3" fmla="*/ 1524621 w 2541035"/>
              <a:gd name="csY3" fmla="*/ 0 h 828570"/>
              <a:gd name="csX4" fmla="*/ 2083649 w 2541035"/>
              <a:gd name="csY4" fmla="*/ 0 h 828570"/>
              <a:gd name="csX5" fmla="*/ 2541035 w 2541035"/>
              <a:gd name="csY5" fmla="*/ 0 h 828570"/>
              <a:gd name="csX6" fmla="*/ 2541035 w 2541035"/>
              <a:gd name="csY6" fmla="*/ 389428 h 828570"/>
              <a:gd name="csX7" fmla="*/ 2541035 w 2541035"/>
              <a:gd name="csY7" fmla="*/ 828570 h 828570"/>
              <a:gd name="csX8" fmla="*/ 2032828 w 2541035"/>
              <a:gd name="csY8" fmla="*/ 828570 h 828570"/>
              <a:gd name="csX9" fmla="*/ 1575442 w 2541035"/>
              <a:gd name="csY9" fmla="*/ 828570 h 828570"/>
              <a:gd name="csX10" fmla="*/ 1092645 w 2541035"/>
              <a:gd name="csY10" fmla="*/ 828570 h 828570"/>
              <a:gd name="csX11" fmla="*/ 660669 w 2541035"/>
              <a:gd name="csY11" fmla="*/ 828570 h 828570"/>
              <a:gd name="csX12" fmla="*/ 0 w 2541035"/>
              <a:gd name="csY12" fmla="*/ 828570 h 828570"/>
              <a:gd name="csX13" fmla="*/ 0 w 2541035"/>
              <a:gd name="csY13" fmla="*/ 414285 h 828570"/>
              <a:gd name="csX14" fmla="*/ 0 w 2541035"/>
              <a:gd name="csY14" fmla="*/ 0 h 8285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41035" h="828570" fill="none" extrusionOk="0">
                <a:moveTo>
                  <a:pt x="0" y="0"/>
                </a:moveTo>
                <a:cubicBezTo>
                  <a:pt x="192552" y="-37921"/>
                  <a:pt x="270673" y="18350"/>
                  <a:pt x="482797" y="0"/>
                </a:cubicBezTo>
                <a:cubicBezTo>
                  <a:pt x="694921" y="-18350"/>
                  <a:pt x="793313" y="42369"/>
                  <a:pt x="965593" y="0"/>
                </a:cubicBezTo>
                <a:cubicBezTo>
                  <a:pt x="1137873" y="-42369"/>
                  <a:pt x="1366551" y="12311"/>
                  <a:pt x="1524621" y="0"/>
                </a:cubicBezTo>
                <a:cubicBezTo>
                  <a:pt x="1682691" y="-12311"/>
                  <a:pt x="1950512" y="36127"/>
                  <a:pt x="2083649" y="0"/>
                </a:cubicBezTo>
                <a:cubicBezTo>
                  <a:pt x="2216786" y="-36127"/>
                  <a:pt x="2356374" y="47487"/>
                  <a:pt x="2541035" y="0"/>
                </a:cubicBezTo>
                <a:cubicBezTo>
                  <a:pt x="2567723" y="175825"/>
                  <a:pt x="2494360" y="307695"/>
                  <a:pt x="2541035" y="389428"/>
                </a:cubicBezTo>
                <a:cubicBezTo>
                  <a:pt x="2587710" y="471161"/>
                  <a:pt x="2528995" y="642118"/>
                  <a:pt x="2541035" y="828570"/>
                </a:cubicBezTo>
                <a:cubicBezTo>
                  <a:pt x="2397795" y="838798"/>
                  <a:pt x="2149293" y="796448"/>
                  <a:pt x="2032828" y="828570"/>
                </a:cubicBezTo>
                <a:cubicBezTo>
                  <a:pt x="1916363" y="860692"/>
                  <a:pt x="1711606" y="803306"/>
                  <a:pt x="1575442" y="828570"/>
                </a:cubicBezTo>
                <a:cubicBezTo>
                  <a:pt x="1439278" y="853834"/>
                  <a:pt x="1261641" y="794671"/>
                  <a:pt x="1092645" y="828570"/>
                </a:cubicBezTo>
                <a:cubicBezTo>
                  <a:pt x="923649" y="862469"/>
                  <a:pt x="842131" y="784982"/>
                  <a:pt x="660669" y="828570"/>
                </a:cubicBezTo>
                <a:cubicBezTo>
                  <a:pt x="479207" y="872158"/>
                  <a:pt x="280659" y="794705"/>
                  <a:pt x="0" y="828570"/>
                </a:cubicBezTo>
                <a:cubicBezTo>
                  <a:pt x="-16698" y="663355"/>
                  <a:pt x="32912" y="571716"/>
                  <a:pt x="0" y="414285"/>
                </a:cubicBezTo>
                <a:cubicBezTo>
                  <a:pt x="-32912" y="256855"/>
                  <a:pt x="17272" y="190876"/>
                  <a:pt x="0" y="0"/>
                </a:cubicBezTo>
                <a:close/>
              </a:path>
              <a:path w="2541035" h="828570" stroke="0" extrusionOk="0">
                <a:moveTo>
                  <a:pt x="0" y="0"/>
                </a:moveTo>
                <a:cubicBezTo>
                  <a:pt x="190069" y="-36086"/>
                  <a:pt x="425926" y="55412"/>
                  <a:pt x="533617" y="0"/>
                </a:cubicBezTo>
                <a:cubicBezTo>
                  <a:pt x="641308" y="-55412"/>
                  <a:pt x="891463" y="41777"/>
                  <a:pt x="1092645" y="0"/>
                </a:cubicBezTo>
                <a:cubicBezTo>
                  <a:pt x="1293827" y="-41777"/>
                  <a:pt x="1387983" y="8534"/>
                  <a:pt x="1524621" y="0"/>
                </a:cubicBezTo>
                <a:cubicBezTo>
                  <a:pt x="1661259" y="-8534"/>
                  <a:pt x="1951521" y="12308"/>
                  <a:pt x="2083649" y="0"/>
                </a:cubicBezTo>
                <a:cubicBezTo>
                  <a:pt x="2215777" y="-12308"/>
                  <a:pt x="2417388" y="36645"/>
                  <a:pt x="2541035" y="0"/>
                </a:cubicBezTo>
                <a:cubicBezTo>
                  <a:pt x="2553818" y="133789"/>
                  <a:pt x="2517883" y="320742"/>
                  <a:pt x="2541035" y="422571"/>
                </a:cubicBezTo>
                <a:cubicBezTo>
                  <a:pt x="2564187" y="524400"/>
                  <a:pt x="2539879" y="726065"/>
                  <a:pt x="2541035" y="828570"/>
                </a:cubicBezTo>
                <a:cubicBezTo>
                  <a:pt x="2313308" y="852222"/>
                  <a:pt x="2195770" y="771549"/>
                  <a:pt x="1982007" y="828570"/>
                </a:cubicBezTo>
                <a:cubicBezTo>
                  <a:pt x="1768244" y="885591"/>
                  <a:pt x="1594238" y="827299"/>
                  <a:pt x="1448390" y="828570"/>
                </a:cubicBezTo>
                <a:cubicBezTo>
                  <a:pt x="1302542" y="829841"/>
                  <a:pt x="1089431" y="791606"/>
                  <a:pt x="965593" y="828570"/>
                </a:cubicBezTo>
                <a:cubicBezTo>
                  <a:pt x="841755" y="865534"/>
                  <a:pt x="341031" y="790002"/>
                  <a:pt x="0" y="828570"/>
                </a:cubicBezTo>
                <a:cubicBezTo>
                  <a:pt x="-51465" y="649832"/>
                  <a:pt x="32783" y="589381"/>
                  <a:pt x="0" y="397714"/>
                </a:cubicBezTo>
                <a:cubicBezTo>
                  <a:pt x="-32783" y="206047"/>
                  <a:pt x="25324" y="154161"/>
                  <a:pt x="0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 w="15875" cap="flat" cmpd="sng" algn="ctr"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="" xmlns:ask="http://schemas.microsoft.com/office/drawing/2018/sketchyshapes" sd="34670990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Haneef Ur Rahman</a:t>
            </a: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         189-D</a:t>
            </a: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r>
              <a:rPr lang="en-US" sz="1800" dirty="0">
                <a:solidFill>
                  <a:schemeClr val="tx1"/>
                </a:solidFill>
              </a:rPr>
              <a:t>      Developer</a:t>
            </a: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75488" lvl="2" indent="0">
              <a:spcAft>
                <a:spcPts val="0"/>
              </a:spcAft>
              <a:buFont typeface="Calibri" pitchFamily="34" charset="0"/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801" y="1853693"/>
            <a:ext cx="5676404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Traditional libraries play an important role </a:t>
            </a:r>
          </a:p>
          <a:p>
            <a:pPr marL="0" indent="0">
              <a:buNone/>
            </a:pPr>
            <a:r>
              <a:rPr lang="en-US" sz="2400" dirty="0"/>
              <a:t>in academic learning.</a:t>
            </a:r>
          </a:p>
          <a:p>
            <a:r>
              <a:rPr lang="en-US" sz="2400" dirty="0"/>
              <a:t>They provide access to: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 Physical books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 Reference materials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 Academic resources</a:t>
            </a:r>
          </a:p>
          <a:p>
            <a:pPr marL="0" indent="0">
              <a:buNone/>
            </a:pPr>
            <a:r>
              <a:rPr lang="en-US" sz="2400" dirty="0"/>
              <a:t>However, In modern education Students today rely heavily on:</a:t>
            </a:r>
            <a:br>
              <a:rPr lang="en-US" sz="2400" dirty="0"/>
            </a:br>
            <a:r>
              <a:rPr lang="en-US" sz="2400" dirty="0"/>
              <a:t>✔ Online access</a:t>
            </a:r>
            <a:br>
              <a:rPr lang="en-US" sz="2400" dirty="0"/>
            </a:br>
            <a:r>
              <a:rPr lang="en-US" sz="2400" dirty="0"/>
              <a:t>✔ Instant information</a:t>
            </a:r>
            <a:br>
              <a:rPr lang="en-US" sz="2400" dirty="0"/>
            </a:br>
            <a:r>
              <a:rPr lang="en-US" sz="2400" dirty="0"/>
              <a:t>✔ Smart assistance systems</a:t>
            </a:r>
          </a:p>
          <a:p>
            <a:pPr lvl="1"/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8710669-B443-1CEB-2704-22EFBE90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779" y="1845734"/>
            <a:ext cx="2833841" cy="4251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CS department library lacks: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Proper digital resource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Smart search functionality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No Reservation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Instant student assistance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Automated fine &amp; issue tracking</a:t>
            </a:r>
          </a:p>
          <a:p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i="1" dirty="0">
                <a:solidFill>
                  <a:schemeClr val="tx1"/>
                </a:solidFill>
              </a:rPr>
              <a:t> This creates </a:t>
            </a:r>
            <a:r>
              <a:rPr lang="en-US" sz="2800" i="1" dirty="0">
                <a:solidFill>
                  <a:srgbClr val="C00000"/>
                </a:solidFill>
              </a:rPr>
              <a:t>inefficiency and delays.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We developed:</a:t>
            </a:r>
          </a:p>
          <a:p>
            <a:r>
              <a:rPr lang="en-US" sz="2800" b="1" dirty="0"/>
              <a:t>A Web-Based CS Department Digital Library &amp; Management System With Integrated AI Chatbot</a:t>
            </a:r>
          </a:p>
          <a:p>
            <a:r>
              <a:rPr lang="en-US" sz="2800" dirty="0"/>
              <a:t>The system manages: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Physical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Digital Resources (PDFs)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Fine Management </a:t>
            </a:r>
            <a:r>
              <a:rPr lang="en-US" sz="2800" dirty="0" smtClean="0"/>
              <a:t>&amp; Reservation System 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AI Student Assistant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</a:t>
            </a:r>
            <a:r>
              <a:rPr dirty="0"/>
              <a:t> Module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3517220" cy="457328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3400" b="1" dirty="0"/>
              <a:t>1. Admin Module</a:t>
            </a:r>
          </a:p>
          <a:p>
            <a:pPr lvl="1">
              <a:lnSpc>
                <a:spcPct val="150000"/>
              </a:lnSpc>
            </a:pPr>
            <a:r>
              <a:rPr lang="en-US" sz="2700" dirty="0"/>
              <a:t>Dashboard Overview</a:t>
            </a:r>
          </a:p>
          <a:p>
            <a:pPr lvl="1">
              <a:lnSpc>
                <a:spcPct val="150000"/>
              </a:lnSpc>
            </a:pPr>
            <a:r>
              <a:rPr sz="2700" dirty="0"/>
              <a:t>Add / Edit / Delete Books</a:t>
            </a:r>
          </a:p>
          <a:p>
            <a:pPr lvl="1">
              <a:lnSpc>
                <a:spcPct val="150000"/>
              </a:lnSpc>
            </a:pPr>
            <a:r>
              <a:rPr sz="2700" dirty="0"/>
              <a:t>Upload Digital Resources</a:t>
            </a:r>
            <a:r>
              <a:rPr lang="en-US" sz="2700" dirty="0"/>
              <a:t> </a:t>
            </a:r>
            <a:r>
              <a:rPr sz="2700" dirty="0"/>
              <a:t>(PDFs)</a:t>
            </a:r>
          </a:p>
          <a:p>
            <a:pPr lvl="1">
              <a:lnSpc>
                <a:spcPct val="150000"/>
              </a:lnSpc>
            </a:pPr>
            <a:r>
              <a:rPr sz="2700" dirty="0"/>
              <a:t>Manage Students</a:t>
            </a:r>
            <a:endParaRPr lang="en-US" sz="2700" dirty="0"/>
          </a:p>
          <a:p>
            <a:pPr lvl="1">
              <a:lnSpc>
                <a:spcPct val="150000"/>
              </a:lnSpc>
            </a:pPr>
            <a:r>
              <a:rPr lang="en-US" sz="2700" dirty="0" smtClean="0"/>
              <a:t>Manage New Book </a:t>
            </a:r>
            <a:br>
              <a:rPr lang="en-US" sz="2700" dirty="0" smtClean="0"/>
            </a:br>
            <a:r>
              <a:rPr lang="en-US" sz="2700" dirty="0" smtClean="0"/>
              <a:t>Requests</a:t>
            </a:r>
            <a:endParaRPr sz="2700" dirty="0"/>
          </a:p>
          <a:p>
            <a:pPr lvl="1">
              <a:lnSpc>
                <a:spcPct val="150000"/>
              </a:lnSpc>
            </a:pPr>
            <a:r>
              <a:rPr sz="2700" dirty="0"/>
              <a:t>Fine Management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C42E5E25-1FAB-C41D-A36D-9B42FDF5DCF9}"/>
              </a:ext>
            </a:extLst>
          </p:cNvPr>
          <p:cNvSpPr txBox="1">
            <a:spLocks/>
          </p:cNvSpPr>
          <p:nvPr/>
        </p:nvSpPr>
        <p:spPr>
          <a:xfrm>
            <a:off x="5058378" y="1737361"/>
            <a:ext cx="3441678" cy="4346742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sz="2800" b="1" dirty="0"/>
              <a:t>2. Student Module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Search Physical Books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Check Availability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Request </a:t>
            </a:r>
            <a:r>
              <a:rPr lang="en-US" sz="2000" dirty="0" smtClean="0"/>
              <a:t>New Books</a:t>
            </a:r>
            <a:endParaRPr lang="en-US" sz="2000" dirty="0"/>
          </a:p>
          <a:p>
            <a:pPr lvl="1">
              <a:lnSpc>
                <a:spcPct val="110000"/>
              </a:lnSpc>
            </a:pPr>
            <a:r>
              <a:rPr lang="en-US" sz="2000" dirty="0"/>
              <a:t>View Issued Books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Reservation System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Clearance Report </a:t>
            </a:r>
          </a:p>
          <a:p>
            <a:pPr lvl="1">
              <a:lnSpc>
                <a:spcPct val="110000"/>
              </a:lnSpc>
            </a:pPr>
            <a:r>
              <a:rPr lang="en-US" sz="2000" dirty="0" smtClean="0"/>
              <a:t>E - </a:t>
            </a:r>
            <a:r>
              <a:rPr lang="en-US" sz="2000" dirty="0" err="1" smtClean="0"/>
              <a:t>Challan</a:t>
            </a:r>
            <a:r>
              <a:rPr lang="en-US" sz="2000" dirty="0" smtClean="0"/>
              <a:t> </a:t>
            </a:r>
            <a:r>
              <a:rPr lang="en-US" sz="2000" dirty="0"/>
              <a:t>System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Download Digital PDFs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Use AI Chatbot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Digital Library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276" y="1833294"/>
            <a:ext cx="5232026" cy="4023360"/>
          </a:xfrm>
        </p:spPr>
        <p:txBody>
          <a:bodyPr>
            <a:noAutofit/>
          </a:bodyPr>
          <a:lstStyle/>
          <a:p>
            <a:r>
              <a:rPr lang="en-US" sz="2400" dirty="0"/>
              <a:t>Our system includes a </a:t>
            </a:r>
            <a:r>
              <a:rPr lang="en-US" sz="2400" b="1" dirty="0"/>
              <a:t>Digital Library Section</a:t>
            </a:r>
            <a:r>
              <a:rPr lang="en-US" sz="2400" dirty="0"/>
              <a:t> where: Admin uploads PDF books.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Students can </a:t>
            </a:r>
            <a:r>
              <a:rPr lang="en-US" sz="2400" dirty="0">
                <a:solidFill>
                  <a:srgbClr val="C00000"/>
                </a:solidFill>
              </a:rPr>
              <a:t>view, download, and Search digital content.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Organized by </a:t>
            </a:r>
            <a:r>
              <a:rPr lang="en-US" sz="2400" dirty="0">
                <a:solidFill>
                  <a:srgbClr val="C00000"/>
                </a:solidFill>
              </a:rPr>
              <a:t>Category-Based.</a:t>
            </a:r>
          </a:p>
          <a:p>
            <a:r>
              <a:rPr lang="en-US" sz="2400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24/7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No physical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Supports remote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C3CC46F-D0E3-1C54-B0DD-90FBD89C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0" r="16073" b="-1391"/>
          <a:stretch>
            <a:fillRect/>
          </a:stretch>
        </p:blipFill>
        <p:spPr>
          <a:xfrm>
            <a:off x="5890302" y="2438645"/>
            <a:ext cx="3009917" cy="31932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</a:t>
            </a:r>
            <a:r>
              <a:rPr dirty="0" err="1"/>
              <a:t>Chatbot</a:t>
            </a:r>
            <a:r>
              <a:rPr dirty="0"/>
              <a:t>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50236"/>
            <a:ext cx="4925610" cy="4023360"/>
          </a:xfrm>
        </p:spPr>
        <p:txBody>
          <a:bodyPr>
            <a:noAutofit/>
          </a:bodyPr>
          <a:lstStyle/>
          <a:p>
            <a:r>
              <a:rPr lang="en-US" sz="2400" dirty="0"/>
              <a:t>The chatbot assists students with: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Book Recommendation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Book availability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Fine details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Issued </a:t>
            </a:r>
            <a:r>
              <a:rPr lang="en-US" sz="2400" dirty="0" smtClean="0"/>
              <a:t>&amp; Reserved books</a:t>
            </a:r>
            <a:endParaRPr lang="en-US" sz="2400" dirty="0"/>
          </a:p>
          <a:p>
            <a:r>
              <a:rPr lang="en-US" sz="2400" b="1" dirty="0" smtClean="0">
                <a:solidFill>
                  <a:schemeClr val="tx1"/>
                </a:solidFill>
              </a:rPr>
              <a:t>If </a:t>
            </a:r>
            <a:r>
              <a:rPr lang="en-US" sz="2400" b="1" dirty="0">
                <a:solidFill>
                  <a:schemeClr val="tx1"/>
                </a:solidFill>
              </a:rPr>
              <a:t>question is not related:</a:t>
            </a:r>
          </a:p>
          <a:p>
            <a:r>
              <a:rPr lang="en-US" sz="2400" i="1" dirty="0">
                <a:solidFill>
                  <a:srgbClr val="C00000"/>
                </a:solidFill>
              </a:rPr>
              <a:t>“Sorry, I can only answer library-related questions.”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6C1FF7C-0389-A115-771E-7F1E4DCD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570" y="2253268"/>
            <a:ext cx="3147849" cy="3401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0810" y="1355759"/>
            <a:ext cx="4076587" cy="52406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 E </a:t>
            </a:r>
            <a:r>
              <a:rPr lang="en-US" sz="2400" b="1" dirty="0" smtClean="0"/>
              <a:t>- </a:t>
            </a:r>
            <a:r>
              <a:rPr lang="en-US" sz="2400" b="1" dirty="0" err="1" smtClean="0"/>
              <a:t>Challan</a:t>
            </a:r>
            <a:r>
              <a:rPr lang="en-US" sz="2400" b="1" dirty="0" smtClean="0"/>
              <a:t> System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Contains student </a:t>
            </a:r>
            <a:r>
              <a:rPr lang="en-US" dirty="0"/>
              <a:t>and fine </a:t>
            </a:r>
            <a:r>
              <a:rPr lang="en-US" dirty="0" smtClean="0"/>
              <a:t>details.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Overdue </a:t>
            </a:r>
            <a:r>
              <a:rPr lang="en-US" dirty="0"/>
              <a:t>fines </a:t>
            </a:r>
            <a:r>
              <a:rPr lang="en-US" dirty="0" smtClean="0"/>
              <a:t>are auto-calculated.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Payment </a:t>
            </a:r>
            <a:r>
              <a:rPr lang="en-US" dirty="0"/>
              <a:t>via 1-Bill using </a:t>
            </a:r>
            <a:r>
              <a:rPr lang="en-US" dirty="0" err="1"/>
              <a:t>C</a:t>
            </a:r>
            <a:r>
              <a:rPr lang="en-US" dirty="0" err="1" smtClean="0"/>
              <a:t>hallan</a:t>
            </a:r>
            <a:r>
              <a:rPr lang="en-US" dirty="0" smtClean="0"/>
              <a:t> </a:t>
            </a:r>
            <a:r>
              <a:rPr lang="en-US" dirty="0" smtClean="0"/>
              <a:t>No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Student </a:t>
            </a:r>
            <a:r>
              <a:rPr lang="en-US" dirty="0" smtClean="0"/>
              <a:t>confirms payment (“I have paid”)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Admin </a:t>
            </a:r>
            <a:r>
              <a:rPr lang="en-US" dirty="0"/>
              <a:t>verifies and clears the fine.</a:t>
            </a:r>
            <a:endParaRPr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4470" y="1287461"/>
            <a:ext cx="4162567" cy="517249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600" b="1" dirty="0" smtClean="0"/>
              <a:t> Reservation </a:t>
            </a:r>
            <a:r>
              <a:rPr lang="en-US" sz="2600" b="1" dirty="0" smtClean="0"/>
              <a:t>System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S</a:t>
            </a:r>
            <a:r>
              <a:rPr lang="en-US" sz="1900" dirty="0" smtClean="0"/>
              <a:t>tudents </a:t>
            </a:r>
            <a:r>
              <a:rPr lang="en-US" sz="1900" dirty="0" smtClean="0"/>
              <a:t>can reserve </a:t>
            </a:r>
            <a:r>
              <a:rPr lang="en-US" sz="1900" dirty="0" smtClean="0"/>
              <a:t>u</a:t>
            </a:r>
            <a:r>
              <a:rPr lang="en-US" sz="1900" dirty="0" smtClean="0"/>
              <a:t>navailable books.</a:t>
            </a:r>
            <a:endParaRPr lang="en-US" sz="1900" dirty="0" smtClean="0"/>
          </a:p>
          <a:p>
            <a:pPr lvl="1">
              <a:lnSpc>
                <a:spcPct val="150000"/>
              </a:lnSpc>
            </a:pPr>
            <a:r>
              <a:rPr lang="en-US" sz="1900" dirty="0"/>
              <a:t>B</a:t>
            </a:r>
            <a:r>
              <a:rPr lang="en-US" sz="1900" dirty="0" smtClean="0"/>
              <a:t>ooks </a:t>
            </a:r>
            <a:r>
              <a:rPr lang="en-US" sz="1900" dirty="0" smtClean="0"/>
              <a:t>auto-issue when available.</a:t>
            </a:r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First-come, first-served </a:t>
            </a:r>
            <a:r>
              <a:rPr lang="en-US" sz="1900" dirty="0" smtClean="0"/>
              <a:t>queue</a:t>
            </a:r>
            <a:endParaRPr lang="en-US" sz="1900" dirty="0" smtClean="0"/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Students </a:t>
            </a:r>
            <a:r>
              <a:rPr lang="en-US" sz="1900" dirty="0" smtClean="0"/>
              <a:t>wait until their turn.</a:t>
            </a:r>
            <a:endParaRPr lang="en-US" sz="1900" dirty="0" smtClean="0"/>
          </a:p>
          <a:p>
            <a:pPr lvl="1">
              <a:lnSpc>
                <a:spcPct val="150000"/>
              </a:lnSpc>
            </a:pPr>
            <a:r>
              <a:rPr lang="en-US" sz="1900" dirty="0" smtClean="0"/>
              <a:t>Reservation can be cancelled anytime.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99819" y="300253"/>
            <a:ext cx="8198210" cy="1450757"/>
          </a:xfrm>
        </p:spPr>
        <p:txBody>
          <a:bodyPr/>
          <a:lstStyle/>
          <a:p>
            <a:r>
              <a:rPr lang="en-US" dirty="0"/>
              <a:t>Reservation &amp; Fine Management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04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99C520-22C3-4E72-CD90-F47F6AC9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ACC26F-59D4-F6AB-F20A-72885F3E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86" y="286604"/>
            <a:ext cx="8225506" cy="1450757"/>
          </a:xfrm>
        </p:spPr>
        <p:txBody>
          <a:bodyPr/>
          <a:lstStyle/>
          <a:p>
            <a:r>
              <a:rPr lang="en-US" dirty="0"/>
              <a:t>Technologies, Tools &amp; Languages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388318-BF5C-5F56-B91A-12E7F35C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51916"/>
            <a:ext cx="7883158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Frontend</a:t>
            </a:r>
            <a:r>
              <a:rPr lang="en-US" sz="2800" dirty="0">
                <a:solidFill>
                  <a:schemeClr val="tx1"/>
                </a:solidFill>
              </a:rPr>
              <a:t>: React.js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Styling</a:t>
            </a:r>
            <a:r>
              <a:rPr lang="en-US" sz="2800" dirty="0">
                <a:solidFill>
                  <a:schemeClr val="tx1"/>
                </a:solidFill>
              </a:rPr>
              <a:t>: Tailwind CSS, </a:t>
            </a:r>
            <a:r>
              <a:rPr lang="en-US" sz="2800" dirty="0" smtClean="0">
                <a:solidFill>
                  <a:schemeClr val="tx1"/>
                </a:solidFill>
              </a:rPr>
              <a:t>Bootstrap, and CSS </a:t>
            </a:r>
            <a:r>
              <a:rPr lang="en-US" sz="2800" dirty="0">
                <a:solidFill>
                  <a:schemeClr val="tx1"/>
                </a:solidFill>
              </a:rPr>
              <a:t>Media Queries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Backend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smtClean="0">
                <a:solidFill>
                  <a:schemeClr val="tx1"/>
                </a:solidFill>
              </a:rPr>
              <a:t>Express &amp; Node.js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Database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err="1" smtClean="0">
                <a:solidFill>
                  <a:schemeClr val="tx1"/>
                </a:solidFill>
              </a:rPr>
              <a:t>MongoDB</a:t>
            </a:r>
            <a:r>
              <a:rPr lang="en-US" sz="2800" dirty="0" smtClean="0">
                <a:solidFill>
                  <a:schemeClr val="tx1"/>
                </a:solidFill>
              </a:rPr>
              <a:t> (</a:t>
            </a:r>
            <a:r>
              <a:rPr lang="en-US" sz="2800" dirty="0" err="1" smtClean="0">
                <a:solidFill>
                  <a:schemeClr val="tx1"/>
                </a:solidFill>
              </a:rPr>
              <a:t>NoSQL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Deployment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smtClean="0">
                <a:solidFill>
                  <a:schemeClr val="tx1"/>
                </a:solidFill>
              </a:rPr>
              <a:t>Local Host, </a:t>
            </a:r>
            <a:r>
              <a:rPr lang="en-US" sz="2800" dirty="0" err="1" smtClean="0">
                <a:solidFill>
                  <a:schemeClr val="tx1"/>
                </a:solidFill>
              </a:rPr>
              <a:t>GitHub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Version Control</a:t>
            </a:r>
            <a:r>
              <a:rPr lang="en-US" sz="2800" dirty="0">
                <a:solidFill>
                  <a:schemeClr val="tx1"/>
                </a:solidFill>
              </a:rPr>
              <a:t>: GitHub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Other Tools</a:t>
            </a:r>
            <a:r>
              <a:rPr lang="en-US" sz="2800" dirty="0">
                <a:solidFill>
                  <a:schemeClr val="tx1"/>
                </a:solidFill>
              </a:rPr>
              <a:t>: Visual Paradigm (for diagrams</a:t>
            </a:r>
            <a:r>
              <a:rPr lang="en-US" sz="2800" dirty="0" smtClean="0">
                <a:solidFill>
                  <a:schemeClr val="tx1"/>
                </a:solidFill>
              </a:rPr>
              <a:t>), Paper Wireframes, </a:t>
            </a:r>
            <a:r>
              <a:rPr lang="en-US" sz="2800" dirty="0" err="1" smtClean="0">
                <a:solidFill>
                  <a:schemeClr val="tx1"/>
                </a:solidFill>
              </a:rPr>
              <a:t>Figma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(UI Screens), and  </a:t>
            </a:r>
            <a:r>
              <a:rPr lang="en-US" sz="2800" dirty="0" err="1">
                <a:solidFill>
                  <a:schemeClr val="tx1"/>
                </a:solidFill>
              </a:rPr>
              <a:t>NodeMailer</a:t>
            </a:r>
            <a:r>
              <a:rPr lang="en-US" sz="2800" dirty="0">
                <a:solidFill>
                  <a:schemeClr val="tx1"/>
                </a:solidFill>
              </a:rPr>
              <a:t> (SMTP) — Automated library email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7987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2D03A796-B16D-7874-86C5-89B4F4999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622227"/>
              </p:ext>
            </p:extLst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&amp; Innovation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79063D95-6832-4049-E845-B65292A3C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887589"/>
              </p:ext>
            </p:extLst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206571-D8FC-4788-AB32-FB59AACB8E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449BC7-EEDA-46F7-9CF2-AA785352B8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992082-BF87-43C2-9D0E-B3FE8211E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898D5D-3E76-4FA8-A439-7AC0F6FE45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0FED3D-554A-46BE-9ACE-23A466287E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2DF9459-1845-4731-8A0D-6DDEB35A29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4DDEE0-DA4B-4FC6-9A93-858C56F0EE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67C531-4E96-4270-9DFD-9DF5C9FC34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8D5130-2168-470F-A8C5-785693A5E5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3A1E05-68B6-4C0C-B4E8-8B44863AC5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391833" cy="4023360"/>
          </a:xfrm>
        </p:spPr>
        <p:txBody>
          <a:bodyPr>
            <a:noAutofit/>
          </a:bodyPr>
          <a:lstStyle/>
          <a:p>
            <a:r>
              <a:rPr lang="en-US" sz="2800" dirty="0"/>
              <a:t>Our project delivers: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Admin Dashboard &amp; Student Portal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Physical </a:t>
            </a:r>
            <a:r>
              <a:rPr lang="en-US" sz="2800" dirty="0" smtClean="0"/>
              <a:t>Books </a:t>
            </a:r>
            <a:r>
              <a:rPr lang="en-US" sz="2800" dirty="0"/>
              <a:t>Management &amp; Digital Library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Smart Search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Fine </a:t>
            </a:r>
            <a:r>
              <a:rPr lang="en-US" sz="2800" dirty="0"/>
              <a:t>&amp; Issue </a:t>
            </a:r>
            <a:r>
              <a:rPr lang="en-US" sz="2800" dirty="0" smtClean="0"/>
              <a:t>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Reservation </a:t>
            </a:r>
            <a:r>
              <a:rPr lang="en-US" sz="2800" dirty="0" smtClean="0"/>
              <a:t>System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AI Chatbot Assistant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Fully Functional Web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52" y="2125652"/>
            <a:ext cx="7299228" cy="4023360"/>
          </a:xfrm>
        </p:spPr>
        <p:txBody>
          <a:bodyPr>
            <a:normAutofit fontScale="92500"/>
          </a:bodyPr>
          <a:lstStyle/>
          <a:p>
            <a:pPr lvl="1">
              <a:lnSpc>
                <a:spcPct val="150000"/>
              </a:lnSpc>
            </a:pPr>
            <a:r>
              <a:rPr sz="3000" dirty="0">
                <a:solidFill>
                  <a:schemeClr val="tx2"/>
                </a:solidFill>
              </a:rPr>
              <a:t>Improves efficiency </a:t>
            </a:r>
            <a:r>
              <a:rPr sz="3000" dirty="0"/>
              <a:t>of CS Department Library</a:t>
            </a:r>
          </a:p>
          <a:p>
            <a:pPr lvl="1">
              <a:lnSpc>
                <a:spcPct val="150000"/>
              </a:lnSpc>
            </a:pPr>
            <a:r>
              <a:rPr sz="3000" dirty="0"/>
              <a:t>Provides </a:t>
            </a:r>
            <a:r>
              <a:rPr sz="3000" dirty="0">
                <a:solidFill>
                  <a:schemeClr val="tx2"/>
                </a:solidFill>
              </a:rPr>
              <a:t>instant student support</a:t>
            </a:r>
          </a:p>
          <a:p>
            <a:pPr lvl="1">
              <a:lnSpc>
                <a:spcPct val="150000"/>
              </a:lnSpc>
            </a:pPr>
            <a:r>
              <a:rPr sz="3000" dirty="0"/>
              <a:t>Combines </a:t>
            </a:r>
            <a:r>
              <a:rPr sz="3000" dirty="0">
                <a:solidFill>
                  <a:srgbClr val="C00000"/>
                </a:solidFill>
              </a:rPr>
              <a:t>physical and digital resource management</a:t>
            </a:r>
          </a:p>
          <a:p>
            <a:pPr lvl="1">
              <a:lnSpc>
                <a:spcPct val="150000"/>
              </a:lnSpc>
            </a:pPr>
            <a:r>
              <a:rPr sz="3000" dirty="0"/>
              <a:t>Modern, scalable web-based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B0BA0F-7975-260A-D116-391DCAE3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6D3AAF-9DCB-3915-558A-4F772EC4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6566E6-417E-EBF8-8851-A30319F9C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52" y="2125652"/>
            <a:ext cx="6660192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sz="3000" dirty="0"/>
              <a:t>.</a:t>
            </a:r>
            <a:endParaRPr sz="3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4C275E5-80E2-FBBD-A6F4-B7F996257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6860" cy="63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4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229</TotalTime>
  <Words>532</Words>
  <Application>Microsoft Office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Smart Library Management System (BiblioTrack)</vt:lpstr>
      <vt:lpstr>Introduction</vt:lpstr>
      <vt:lpstr>Problem Statement</vt:lpstr>
      <vt:lpstr>Proposed Solution</vt:lpstr>
      <vt:lpstr>System Modules</vt:lpstr>
      <vt:lpstr>Digital Library Module</vt:lpstr>
      <vt:lpstr>AI Chatbot Integration</vt:lpstr>
      <vt:lpstr>Reservation &amp; Fine Management</vt:lpstr>
      <vt:lpstr>Technologies, Tools &amp; Languages</vt:lpstr>
      <vt:lpstr>System Architecture</vt:lpstr>
      <vt:lpstr>Novelty &amp; Innovation</vt:lpstr>
      <vt:lpstr>Project Deliverables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Management System (BiblioTrack)</dc:title>
  <dc:subject/>
  <dc:creator>S.Dilawaiz</dc:creator>
  <cp:keywords/>
  <dc:description>generated using python-pptx</dc:description>
  <cp:lastModifiedBy>Microsoft account</cp:lastModifiedBy>
  <cp:revision>20</cp:revision>
  <dcterms:created xsi:type="dcterms:W3CDTF">2013-01-27T09:14:16Z</dcterms:created>
  <dcterms:modified xsi:type="dcterms:W3CDTF">2026-03-04T06:24:49Z</dcterms:modified>
  <cp:category/>
</cp:coreProperties>
</file>